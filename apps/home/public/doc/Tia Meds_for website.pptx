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80" r:id="rId6"/>
    <p:sldId id="281" r:id="rId7"/>
    <p:sldId id="282" r:id="rId8"/>
    <p:sldId id="283" r:id="rId9"/>
    <p:sldId id="285" r:id="rId10"/>
    <p:sldId id="287" r:id="rId11"/>
    <p:sldId id="262" r:id="rId12"/>
    <p:sldId id="263" r:id="rId13"/>
    <p:sldId id="264" r:id="rId14"/>
    <p:sldId id="266" r:id="rId15"/>
    <p:sldId id="27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84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448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2576" y="160020"/>
            <a:ext cx="1325880" cy="132588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" name="Image 0" descr="/home/claude/work/a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28" y="214354"/>
            <a:ext cx="1179576" cy="11795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5603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TIAMEDS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Digital Infrastructure of Tomorrow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4937760"/>
            <a:ext cx="731520" cy="73152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1206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742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1645920" y="493776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 txBox="1"/>
          <p:nvPr/>
        </p:nvSpPr>
        <p:spPr>
          <a:xfrm>
            <a:off x="1614114" y="5742432"/>
            <a:ext cx="1037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030A0"/>
                </a:solidFill>
              </a:rPr>
              <a:t>Pharma</a:t>
            </a:r>
          </a:p>
        </p:txBody>
      </p:sp>
      <p:sp>
        <p:nvSpPr>
          <p:cNvPr id="13" name="Shape 8"/>
          <p:cNvSpPr/>
          <p:nvPr/>
        </p:nvSpPr>
        <p:spPr>
          <a:xfrm>
            <a:off x="2651760" y="4937760"/>
            <a:ext cx="731520" cy="73152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512064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520563" y="573805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030A0"/>
                </a:solidFill>
              </a:rPr>
              <a:t>IT</a:t>
            </a:r>
          </a:p>
        </p:txBody>
      </p:sp>
      <p:sp>
        <p:nvSpPr>
          <p:cNvPr id="16" name="Shape 10"/>
          <p:cNvSpPr/>
          <p:nvPr/>
        </p:nvSpPr>
        <p:spPr>
          <a:xfrm>
            <a:off x="3657600" y="4937760"/>
            <a:ext cx="731520" cy="731520"/>
          </a:xfrm>
          <a:prstGeom prst="ellipse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512064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566160" y="5742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4663440" y="4937760"/>
            <a:ext cx="731520" cy="731520"/>
          </a:xfrm>
          <a:prstGeom prst="ellipse">
            <a:avLst/>
          </a:prstGeom>
          <a:solidFill>
            <a:srgbClr val="7B2F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512064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572000" y="5742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8590059" y="181223"/>
            <a:ext cx="914400" cy="914400"/>
          </a:xfrm>
          <a:prstGeom prst="ellipse">
            <a:avLst/>
          </a:prstGeom>
          <a:solidFill>
            <a:srgbClr val="F26B1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960" y="409823"/>
            <a:ext cx="457200" cy="45720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9857132" y="234232"/>
            <a:ext cx="868680" cy="868680"/>
          </a:xfrm>
          <a:prstGeom prst="ellipse">
            <a:avLst/>
          </a:prstGeom>
          <a:solidFill>
            <a:srgbClr val="1FA463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4302" y="483041"/>
            <a:ext cx="434340" cy="43434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11045024" y="194475"/>
            <a:ext cx="914400" cy="914400"/>
          </a:xfrm>
          <a:prstGeom prst="ellipse">
            <a:avLst/>
          </a:prstGeom>
          <a:solidFill>
            <a:srgbClr val="7B2FD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3624" y="423075"/>
            <a:ext cx="457200" cy="457200"/>
          </a:xfrm>
          <a:prstGeom prst="rect">
            <a:avLst/>
          </a:prstGeom>
        </p:spPr>
      </p:pic>
      <p:pic>
        <p:nvPicPr>
          <p:cNvPr id="4" name="Image 5" descr="preencoded.png">
            <a:extLst>
              <a:ext uri="{FF2B5EF4-FFF2-40B4-BE49-F238E27FC236}">
                <a16:creationId xmlns:a16="http://schemas.microsoft.com/office/drawing/2014/main" id="{576F5D96-3E7F-8798-0866-1C2C48D24B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0" y="5103876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61892" y="6035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Profile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work/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 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21831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2834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338828" y="173736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4613148" y="2011680"/>
            <a:ext cx="685800" cy="6858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598" y="21831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13148" y="2834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613148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Arjun Sachidanand &amp; Dr. Sini Arjun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129016" y="173736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DFF5E8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8403336" y="2011680"/>
            <a:ext cx="685800" cy="68580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786" y="21831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03336" y="2834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403336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Mysuru, Karnataka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" y="411480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FFF3C4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822960" y="4389120"/>
            <a:ext cx="685800" cy="685800"/>
          </a:xfrm>
          <a:prstGeom prst="ellipse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10" y="456057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2960" y="5212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8A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5486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www.tiameds.ai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4338828" y="411480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EFE6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4613148" y="4389120"/>
            <a:ext cx="685800" cy="685800"/>
          </a:xfrm>
          <a:prstGeom prst="ellipse">
            <a:avLst/>
          </a:prstGeom>
          <a:solidFill>
            <a:srgbClr val="7B2F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4598" y="456057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613148" y="5212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B2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4613148" y="5486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February 2024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129016" y="411480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8403336" y="4389120"/>
            <a:ext cx="685800" cy="6858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4786" y="4560570"/>
            <a:ext cx="342900" cy="3429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403336" y="5212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8403336" y="5486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support@tiameds.ai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work/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 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82930" y="3081528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617220" y="3968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&amp; Incorporated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08660" y="5047488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pharmaceutical technology company based in Mysuru, Karnataka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39" y="1563624"/>
            <a:ext cx="10702919" cy="1005840"/>
          </a:xfrm>
          <a:prstGeom prst="roundRect">
            <a:avLst>
              <a:gd name="adj" fmla="val 10909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03281" y="1757106"/>
            <a:ext cx="548640" cy="54864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41" y="190341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89081" y="1626572"/>
            <a:ext cx="962087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</a:t>
            </a:r>
            <a:endParaRPr lang="en-US" dirty="0"/>
          </a:p>
          <a:p>
            <a:r>
              <a:rPr lang="en-IN" dirty="0">
                <a:solidFill>
                  <a:schemeClr val="accent2"/>
                </a:solidFill>
              </a:rPr>
              <a:t>Transforming healthcare through AI-powered, secure and scalable technology that improves operational efficiency and patient outcomes.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48640" y="2819533"/>
            <a:ext cx="10685774" cy="1005840"/>
          </a:xfrm>
          <a:prstGeom prst="roundRect">
            <a:avLst>
              <a:gd name="adj" fmla="val 10909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03281" y="3063240"/>
            <a:ext cx="548640" cy="54864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86" y="3227699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81911" y="2934959"/>
            <a:ext cx="916560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SaaS</a:t>
            </a:r>
            <a:endParaRPr lang="en-US" dirty="0"/>
          </a:p>
          <a:p>
            <a:r>
              <a:rPr lang="en-IN" dirty="0">
                <a:solidFill>
                  <a:schemeClr val="accent2"/>
                </a:solidFill>
              </a:rPr>
              <a:t>Purpose-built digital solutions for Hospitals • Pharmacies • Wellness.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1" name="Shape 16"/>
          <p:cNvSpPr/>
          <p:nvPr/>
        </p:nvSpPr>
        <p:spPr>
          <a:xfrm>
            <a:off x="582930" y="4105656"/>
            <a:ext cx="10626090" cy="1005840"/>
          </a:xfrm>
          <a:prstGeom prst="roundRect">
            <a:avLst>
              <a:gd name="adj" fmla="val 10909"/>
            </a:avLst>
          </a:prstGeom>
          <a:solidFill>
            <a:srgbClr val="DFF5E8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03281" y="4370832"/>
            <a:ext cx="548640" cy="54864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450799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81911" y="4245599"/>
            <a:ext cx="916560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Workflows</a:t>
            </a:r>
            <a:endParaRPr lang="en-US" dirty="0"/>
          </a:p>
          <a:p>
            <a:r>
              <a:rPr lang="en-IN" dirty="0">
                <a:solidFill>
                  <a:schemeClr val="accent2"/>
                </a:solidFill>
              </a:rPr>
              <a:t>Integrating healthcare, pharmacies and Wellness operations through intelligent digital workflows.</a:t>
            </a:r>
          </a:p>
          <a:p>
            <a:pPr marL="0" indent="0">
              <a:buNone/>
            </a:pPr>
            <a:endParaRPr lang="en-US" sz="1600" b="1" dirty="0"/>
          </a:p>
        </p:txBody>
      </p:sp>
      <p:sp>
        <p:nvSpPr>
          <p:cNvPr id="25" name="Shape 19"/>
          <p:cNvSpPr/>
          <p:nvPr/>
        </p:nvSpPr>
        <p:spPr>
          <a:xfrm>
            <a:off x="617220" y="5387936"/>
            <a:ext cx="10591800" cy="1005840"/>
          </a:xfrm>
          <a:prstGeom prst="roundRect">
            <a:avLst>
              <a:gd name="adj" fmla="val 10909"/>
            </a:avLst>
          </a:prstGeom>
          <a:solidFill>
            <a:srgbClr val="FFF3C4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803281" y="5601627"/>
            <a:ext cx="548640" cy="548640"/>
          </a:xfrm>
          <a:prstGeom prst="ellipse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86" y="574945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32204" y="5402382"/>
            <a:ext cx="94320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</a:t>
            </a:r>
            <a:endParaRPr lang="en-US" dirty="0"/>
          </a:p>
          <a:p>
            <a:r>
              <a:rPr lang="en-IN" dirty="0">
                <a:solidFill>
                  <a:schemeClr val="accent2"/>
                </a:solidFill>
              </a:rPr>
              <a:t>Building an integrated AI-powered healthcare ecosystem. 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A0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Digital Enterprise-Grade Ecosystem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technology layer connecting India’s healthcare and Pharma Industries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9768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 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dirty="0">
                <a:solidFill>
                  <a:srgbClr val="5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978408" y="17830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9F5"/>
            </a:solidFill>
          </a:ln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252728" y="2011680"/>
            <a:ext cx="731520" cy="73152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21408" y="1874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4544568" y="17830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9F5"/>
            </a:solidFill>
          </a:ln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4818888" y="201168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21945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687568" y="18745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8110728" y="17830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D9F5"/>
            </a:solidFill>
          </a:ln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8247888" y="1997434"/>
            <a:ext cx="731520" cy="73152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219456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75420" y="1865376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8C"/>
                </a:solidFill>
                <a:latin typeface="Calibri" pitchFamily="34" charset="0"/>
                <a:cs typeface="Calibri" pitchFamily="34" charset="-120"/>
              </a:rPr>
              <a:t>Wellness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978408" y="3246120"/>
            <a:ext cx="10241280" cy="777240"/>
          </a:xfrm>
          <a:prstGeom prst="roundRect">
            <a:avLst>
              <a:gd name="adj" fmla="val 14118"/>
            </a:avLst>
          </a:prstGeom>
          <a:solidFill>
            <a:srgbClr val="F6B400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 txBox="1"/>
          <p:nvPr/>
        </p:nvSpPr>
        <p:spPr>
          <a:xfrm>
            <a:off x="978408" y="3246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0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2A0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AI Technology Layer</a:t>
            </a:r>
            <a:endParaRPr lang="en-US" sz="2400" dirty="0"/>
          </a:p>
        </p:txBody>
      </p:sp>
      <p:sp>
        <p:nvSpPr>
          <p:cNvPr id="100" name="Shape Pharma Marketplace Box"/>
          <p:cNvSpPr/>
          <p:nvPr/>
        </p:nvSpPr>
        <p:spPr>
          <a:xfrm>
            <a:off x="978408" y="4343400"/>
            <a:ext cx="5029200" cy="2039112"/>
          </a:xfrm>
          <a:prstGeom prst="roundRect">
            <a:avLst>
              <a:gd name="adj" fmla="val 6316"/>
            </a:avLst>
          </a:prstGeom>
          <a:solidFill>
            <a:srgbClr val="5B1AA6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1" name="Shape Pharma Marketplace Icon BG"/>
          <p:cNvSpPr/>
          <p:nvPr/>
        </p:nvSpPr>
        <p:spPr>
          <a:xfrm>
            <a:off x="3127248" y="4526280"/>
            <a:ext cx="731520" cy="731520"/>
          </a:xfrm>
          <a:prstGeom prst="ellipse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2" name="Image Pharma Marketplace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4709160"/>
            <a:ext cx="365760" cy="365760"/>
          </a:xfrm>
          <a:prstGeom prst="rect">
            <a:avLst/>
          </a:prstGeom>
        </p:spPr>
      </p:pic>
      <p:sp>
        <p:nvSpPr>
          <p:cNvPr id="103" name="Text Pharma Marketplace Label"/>
          <p:cNvSpPr txBox="1"/>
          <p:nvPr/>
        </p:nvSpPr>
        <p:spPr>
          <a:xfrm>
            <a:off x="1293008" y="5394960"/>
            <a:ext cx="44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(Pharma) 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2400" dirty="0"/>
          </a:p>
        </p:txBody>
      </p:sp>
      <p:sp>
        <p:nvSpPr>
          <p:cNvPr id="104" name="Shape One Box"/>
          <p:cNvSpPr/>
          <p:nvPr/>
        </p:nvSpPr>
        <p:spPr>
          <a:xfrm>
            <a:off x="6190488" y="4343400"/>
            <a:ext cx="5029200" cy="2039112"/>
          </a:xfrm>
          <a:prstGeom prst="roundRect">
            <a:avLst>
              <a:gd name="adj" fmla="val 6316"/>
            </a:avLst>
          </a:prstGeom>
          <a:solidFill>
            <a:srgbClr val="5B1AA6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5" name="Shape One Icon BG"/>
          <p:cNvSpPr/>
          <p:nvPr/>
        </p:nvSpPr>
        <p:spPr>
          <a:xfrm>
            <a:off x="8339328" y="4526280"/>
            <a:ext cx="731520" cy="731520"/>
          </a:xfrm>
          <a:prstGeom prst="ellipse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6" name="Image One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4709160"/>
            <a:ext cx="365760" cy="365760"/>
          </a:xfrm>
          <a:prstGeom prst="rect">
            <a:avLst/>
          </a:prstGeom>
        </p:spPr>
      </p:pic>
      <p:sp>
        <p:nvSpPr>
          <p:cNvPr id="107" name="Text One Label"/>
          <p:cNvSpPr txBox="1"/>
          <p:nvPr/>
        </p:nvSpPr>
        <p:spPr>
          <a:xfrm>
            <a:off x="6505088" y="5394960"/>
            <a:ext cx="44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One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Digital Solutions for Smarter, Connected Hospitals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332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integrates hospital, laboratory and patient-support workflows through secure, connected and AI-enabled digital solutions.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a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 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Card BG"/>
          <p:cNvSpPr/>
          <p:nvPr/>
        </p:nvSpPr>
        <p:spPr>
          <a:xfrm>
            <a:off x="548640" y="1858720"/>
            <a:ext cx="3576320" cy="3668400"/>
          </a:xfrm>
          <a:prstGeom prst="roundRect">
            <a:avLst>
              <a:gd name="adj" fmla="val 3125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Icon Circle"/>
          <p:cNvSpPr/>
          <p:nvPr/>
        </p:nvSpPr>
        <p:spPr>
          <a:xfrm>
            <a:off x="777240" y="2087320"/>
            <a:ext cx="640080" cy="64008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con Img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247340"/>
            <a:ext cx="320040" cy="320040"/>
          </a:xfrm>
          <a:prstGeom prst="rect">
            <a:avLst/>
          </a:prstGeom>
        </p:spPr>
      </p:pic>
      <p:sp>
        <p:nvSpPr>
          <p:cNvPr id="14" name="Card Title"/>
          <p:cNvSpPr txBox="1"/>
          <p:nvPr/>
        </p:nvSpPr>
        <p:spPr>
          <a:xfrm>
            <a:off x="868680" y="2774608"/>
            <a:ext cx="311912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HIMS</a:t>
            </a:r>
            <a:endParaRPr lang="en-US" sz="1700" dirty="0"/>
          </a:p>
        </p:txBody>
      </p:sp>
      <p:sp>
        <p:nvSpPr>
          <p:cNvPr id="15" name="Card Subtitle"/>
          <p:cNvSpPr txBox="1"/>
          <p:nvPr/>
        </p:nvSpPr>
        <p:spPr>
          <a:xfrm>
            <a:off x="777240" y="3167400"/>
            <a:ext cx="31191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Hospital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Management System</a:t>
            </a:r>
            <a:endParaRPr lang="en-US" sz="1400" dirty="0"/>
          </a:p>
        </p:txBody>
      </p:sp>
      <p:sp>
        <p:nvSpPr>
          <p:cNvPr id="16" name="Item Dot 0"/>
          <p:cNvSpPr/>
          <p:nvPr/>
        </p:nvSpPr>
        <p:spPr>
          <a:xfrm>
            <a:off x="777240" y="3893120"/>
            <a:ext cx="182880" cy="18288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tem Check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80" y="3934560"/>
            <a:ext cx="100000" cy="100000"/>
          </a:xfrm>
          <a:prstGeom prst="rect">
            <a:avLst/>
          </a:prstGeom>
        </p:spPr>
      </p:pic>
      <p:sp>
        <p:nvSpPr>
          <p:cNvPr id="18" name="Item Text 0"/>
          <p:cNvSpPr txBox="1"/>
          <p:nvPr/>
        </p:nvSpPr>
        <p:spPr>
          <a:xfrm>
            <a:off x="1060120" y="3847400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 &amp; EMR</a:t>
            </a:r>
            <a:endParaRPr lang="en-US" sz="1000" dirty="0"/>
          </a:p>
        </p:txBody>
      </p:sp>
      <p:sp>
        <p:nvSpPr>
          <p:cNvPr id="19" name="Item Dot 1"/>
          <p:cNvSpPr/>
          <p:nvPr/>
        </p:nvSpPr>
        <p:spPr>
          <a:xfrm>
            <a:off x="777240" y="4124508"/>
            <a:ext cx="182880" cy="18288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tem Check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80" y="4165948"/>
            <a:ext cx="100000" cy="100000"/>
          </a:xfrm>
          <a:prstGeom prst="rect">
            <a:avLst/>
          </a:prstGeom>
        </p:spPr>
      </p:pic>
      <p:sp>
        <p:nvSpPr>
          <p:cNvPr id="21" name="Item Text 1"/>
          <p:cNvSpPr txBox="1"/>
          <p:nvPr/>
        </p:nvSpPr>
        <p:spPr>
          <a:xfrm>
            <a:off x="1060120" y="4078788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• IPD • Appointment Mgmt</a:t>
            </a:r>
            <a:endParaRPr lang="en-US" sz="1000" dirty="0"/>
          </a:p>
        </p:txBody>
      </p:sp>
      <p:sp>
        <p:nvSpPr>
          <p:cNvPr id="22" name="Item Dot 2"/>
          <p:cNvSpPr/>
          <p:nvPr/>
        </p:nvSpPr>
        <p:spPr>
          <a:xfrm>
            <a:off x="777240" y="4355896"/>
            <a:ext cx="182880" cy="18288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tem Check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80" y="4397336"/>
            <a:ext cx="100000" cy="100000"/>
          </a:xfrm>
          <a:prstGeom prst="rect">
            <a:avLst/>
          </a:prstGeom>
        </p:spPr>
      </p:pic>
      <p:sp>
        <p:nvSpPr>
          <p:cNvPr id="24" name="Item Text 2"/>
          <p:cNvSpPr txBox="1"/>
          <p:nvPr/>
        </p:nvSpPr>
        <p:spPr>
          <a:xfrm>
            <a:off x="1060120" y="4310176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&amp; Nursing Workflows</a:t>
            </a:r>
            <a:endParaRPr lang="en-US" sz="1000" dirty="0"/>
          </a:p>
        </p:txBody>
      </p:sp>
      <p:sp>
        <p:nvSpPr>
          <p:cNvPr id="25" name="Item Dot 3"/>
          <p:cNvSpPr/>
          <p:nvPr/>
        </p:nvSpPr>
        <p:spPr>
          <a:xfrm>
            <a:off x="777240" y="4587284"/>
            <a:ext cx="182880" cy="18288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tem Check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80" y="4628724"/>
            <a:ext cx="100000" cy="100000"/>
          </a:xfrm>
          <a:prstGeom prst="rect">
            <a:avLst/>
          </a:prstGeom>
        </p:spPr>
      </p:pic>
      <p:sp>
        <p:nvSpPr>
          <p:cNvPr id="27" name="Item Text 3"/>
          <p:cNvSpPr txBox="1"/>
          <p:nvPr/>
        </p:nvSpPr>
        <p:spPr>
          <a:xfrm>
            <a:off x="1060120" y="4541564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&amp; Inventory Integration</a:t>
            </a:r>
            <a:endParaRPr lang="en-US" sz="1000" dirty="0"/>
          </a:p>
        </p:txBody>
      </p:sp>
      <p:sp>
        <p:nvSpPr>
          <p:cNvPr id="28" name="Item Dot 4"/>
          <p:cNvSpPr/>
          <p:nvPr/>
        </p:nvSpPr>
        <p:spPr>
          <a:xfrm>
            <a:off x="777240" y="4818672"/>
            <a:ext cx="182880" cy="18288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tem Check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80" y="4860112"/>
            <a:ext cx="100000" cy="100000"/>
          </a:xfrm>
          <a:prstGeom prst="rect">
            <a:avLst/>
          </a:prstGeom>
        </p:spPr>
      </p:pic>
      <p:sp>
        <p:nvSpPr>
          <p:cNvPr id="30" name="Item Text 4"/>
          <p:cNvSpPr txBox="1"/>
          <p:nvPr/>
        </p:nvSpPr>
        <p:spPr>
          <a:xfrm>
            <a:off x="1060120" y="4772952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• Insurance • Claims</a:t>
            </a:r>
            <a:endParaRPr lang="en-US" sz="1000" dirty="0"/>
          </a:p>
        </p:txBody>
      </p:sp>
      <p:sp>
        <p:nvSpPr>
          <p:cNvPr id="31" name="Item Dot 5"/>
          <p:cNvSpPr/>
          <p:nvPr/>
        </p:nvSpPr>
        <p:spPr>
          <a:xfrm>
            <a:off x="777240" y="5050060"/>
            <a:ext cx="182880" cy="18288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tem Check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80" y="5091500"/>
            <a:ext cx="100000" cy="100000"/>
          </a:xfrm>
          <a:prstGeom prst="rect">
            <a:avLst/>
          </a:prstGeom>
        </p:spPr>
      </p:pic>
      <p:sp>
        <p:nvSpPr>
          <p:cNvPr id="33" name="Item Text 5"/>
          <p:cNvSpPr txBox="1"/>
          <p:nvPr/>
        </p:nvSpPr>
        <p:spPr>
          <a:xfrm>
            <a:off x="1060120" y="5004340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Clinical Insights</a:t>
            </a:r>
            <a:endParaRPr lang="en-US" sz="1000" dirty="0"/>
          </a:p>
        </p:txBody>
      </p:sp>
      <p:sp>
        <p:nvSpPr>
          <p:cNvPr id="34" name="Item Dot 6"/>
          <p:cNvSpPr/>
          <p:nvPr/>
        </p:nvSpPr>
        <p:spPr>
          <a:xfrm>
            <a:off x="777240" y="5281448"/>
            <a:ext cx="182880" cy="18288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tem Check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80" y="5322888"/>
            <a:ext cx="100000" cy="100000"/>
          </a:xfrm>
          <a:prstGeom prst="rect">
            <a:avLst/>
          </a:prstGeom>
        </p:spPr>
      </p:pic>
      <p:sp>
        <p:nvSpPr>
          <p:cNvPr id="36" name="Item Text 6"/>
          <p:cNvSpPr txBox="1"/>
          <p:nvPr/>
        </p:nvSpPr>
        <p:spPr>
          <a:xfrm>
            <a:off x="1060120" y="5235728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Reports &amp; Dashboards</a:t>
            </a:r>
            <a:endParaRPr lang="en-US" sz="1000" dirty="0"/>
          </a:p>
        </p:txBody>
      </p:sp>
      <p:sp>
        <p:nvSpPr>
          <p:cNvPr id="37" name="Card BG"/>
          <p:cNvSpPr/>
          <p:nvPr/>
        </p:nvSpPr>
        <p:spPr>
          <a:xfrm>
            <a:off x="4307840" y="1858720"/>
            <a:ext cx="3576320" cy="3668400"/>
          </a:xfrm>
          <a:prstGeom prst="roundRect">
            <a:avLst>
              <a:gd name="adj" fmla="val 3125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Icon Circle"/>
          <p:cNvSpPr/>
          <p:nvPr/>
        </p:nvSpPr>
        <p:spPr>
          <a:xfrm>
            <a:off x="4536440" y="2087320"/>
            <a:ext cx="640080" cy="64008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con Img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460" y="2247340"/>
            <a:ext cx="320040" cy="320040"/>
          </a:xfrm>
          <a:prstGeom prst="rect">
            <a:avLst/>
          </a:prstGeom>
        </p:spPr>
      </p:pic>
      <p:sp>
        <p:nvSpPr>
          <p:cNvPr id="42" name="Card Title"/>
          <p:cNvSpPr txBox="1"/>
          <p:nvPr/>
        </p:nvSpPr>
        <p:spPr>
          <a:xfrm>
            <a:off x="4536440" y="2827400"/>
            <a:ext cx="311912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Management</a:t>
            </a:r>
            <a:endParaRPr lang="en-US" sz="1700" dirty="0"/>
          </a:p>
        </p:txBody>
      </p:sp>
      <p:sp>
        <p:nvSpPr>
          <p:cNvPr id="43" name="Card Subtitle"/>
          <p:cNvSpPr txBox="1"/>
          <p:nvPr/>
        </p:nvSpPr>
        <p:spPr>
          <a:xfrm>
            <a:off x="4536440" y="3167400"/>
            <a:ext cx="31191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Laboratory Workflow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Information Management</a:t>
            </a:r>
            <a:endParaRPr lang="en-US" sz="1400" dirty="0"/>
          </a:p>
        </p:txBody>
      </p:sp>
      <p:sp>
        <p:nvSpPr>
          <p:cNvPr id="44" name="Item Dot 0"/>
          <p:cNvSpPr/>
          <p:nvPr/>
        </p:nvSpPr>
        <p:spPr>
          <a:xfrm>
            <a:off x="4536440" y="3893120"/>
            <a:ext cx="182880" cy="18288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tem Check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80" y="3934560"/>
            <a:ext cx="100000" cy="100000"/>
          </a:xfrm>
          <a:prstGeom prst="rect">
            <a:avLst/>
          </a:prstGeom>
        </p:spPr>
      </p:pic>
      <p:sp>
        <p:nvSpPr>
          <p:cNvPr id="46" name="Item Text 0"/>
          <p:cNvSpPr txBox="1"/>
          <p:nvPr/>
        </p:nvSpPr>
        <p:spPr>
          <a:xfrm>
            <a:off x="4819320" y="3847400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Test Ordering &amp; Sample Reg.</a:t>
            </a:r>
            <a:endParaRPr lang="en-US" sz="1000" dirty="0"/>
          </a:p>
        </p:txBody>
      </p:sp>
      <p:sp>
        <p:nvSpPr>
          <p:cNvPr id="47" name="Item Dot 1"/>
          <p:cNvSpPr/>
          <p:nvPr/>
        </p:nvSpPr>
        <p:spPr>
          <a:xfrm>
            <a:off x="4536440" y="4124508"/>
            <a:ext cx="182880" cy="18288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tem Check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80" y="4165948"/>
            <a:ext cx="100000" cy="100000"/>
          </a:xfrm>
          <a:prstGeom prst="rect">
            <a:avLst/>
          </a:prstGeom>
        </p:spPr>
      </p:pic>
      <p:sp>
        <p:nvSpPr>
          <p:cNvPr id="49" name="Item Text 1"/>
          <p:cNvSpPr txBox="1"/>
          <p:nvPr/>
        </p:nvSpPr>
        <p:spPr>
          <a:xfrm>
            <a:off x="4819320" y="4078788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Sample Tracking</a:t>
            </a:r>
            <a:endParaRPr lang="en-US" sz="1000" dirty="0"/>
          </a:p>
        </p:txBody>
      </p:sp>
      <p:sp>
        <p:nvSpPr>
          <p:cNvPr id="50" name="Item Dot 2"/>
          <p:cNvSpPr/>
          <p:nvPr/>
        </p:nvSpPr>
        <p:spPr>
          <a:xfrm>
            <a:off x="4536440" y="4355896"/>
            <a:ext cx="182880" cy="18288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Item Check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80" y="4397336"/>
            <a:ext cx="100000" cy="100000"/>
          </a:xfrm>
          <a:prstGeom prst="rect">
            <a:avLst/>
          </a:prstGeom>
        </p:spPr>
      </p:pic>
      <p:sp>
        <p:nvSpPr>
          <p:cNvPr id="52" name="Item Text 2"/>
          <p:cNvSpPr txBox="1"/>
          <p:nvPr/>
        </p:nvSpPr>
        <p:spPr>
          <a:xfrm>
            <a:off x="4819320" y="4310176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Result Management</a:t>
            </a:r>
            <a:endParaRPr lang="en-US" sz="1000" dirty="0"/>
          </a:p>
        </p:txBody>
      </p:sp>
      <p:sp>
        <p:nvSpPr>
          <p:cNvPr id="53" name="Item Dot 3"/>
          <p:cNvSpPr/>
          <p:nvPr/>
        </p:nvSpPr>
        <p:spPr>
          <a:xfrm>
            <a:off x="4536440" y="4587284"/>
            <a:ext cx="182880" cy="18288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tem Check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80" y="4628724"/>
            <a:ext cx="100000" cy="100000"/>
          </a:xfrm>
          <a:prstGeom prst="rect">
            <a:avLst/>
          </a:prstGeom>
        </p:spPr>
      </p:pic>
      <p:sp>
        <p:nvSpPr>
          <p:cNvPr id="55" name="Item Text 3"/>
          <p:cNvSpPr txBox="1"/>
          <p:nvPr/>
        </p:nvSpPr>
        <p:spPr>
          <a:xfrm>
            <a:off x="4819320" y="4541564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System Integration</a:t>
            </a:r>
            <a:endParaRPr lang="en-US" sz="1000" dirty="0"/>
          </a:p>
        </p:txBody>
      </p:sp>
      <p:sp>
        <p:nvSpPr>
          <p:cNvPr id="56" name="Item Dot 4"/>
          <p:cNvSpPr/>
          <p:nvPr/>
        </p:nvSpPr>
        <p:spPr>
          <a:xfrm>
            <a:off x="4536440" y="4818672"/>
            <a:ext cx="182880" cy="18288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7" name="Item Check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80" y="4860112"/>
            <a:ext cx="100000" cy="100000"/>
          </a:xfrm>
          <a:prstGeom prst="rect">
            <a:avLst/>
          </a:prstGeom>
        </p:spPr>
      </p:pic>
      <p:sp>
        <p:nvSpPr>
          <p:cNvPr id="58" name="Item Text 4"/>
          <p:cNvSpPr txBox="1"/>
          <p:nvPr/>
        </p:nvSpPr>
        <p:spPr>
          <a:xfrm>
            <a:off x="4819320" y="4772952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Patient Report Access</a:t>
            </a:r>
            <a:endParaRPr lang="en-US" sz="1000" dirty="0"/>
          </a:p>
        </p:txBody>
      </p:sp>
      <p:sp>
        <p:nvSpPr>
          <p:cNvPr id="59" name="Item Dot 5"/>
          <p:cNvSpPr/>
          <p:nvPr/>
        </p:nvSpPr>
        <p:spPr>
          <a:xfrm>
            <a:off x="4536440" y="5050060"/>
            <a:ext cx="182880" cy="18288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0" name="Item Check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80" y="5091500"/>
            <a:ext cx="100000" cy="100000"/>
          </a:xfrm>
          <a:prstGeom prst="rect">
            <a:avLst/>
          </a:prstGeom>
        </p:spPr>
      </p:pic>
      <p:sp>
        <p:nvSpPr>
          <p:cNvPr id="61" name="Item Text 5"/>
          <p:cNvSpPr txBox="1"/>
          <p:nvPr/>
        </p:nvSpPr>
        <p:spPr>
          <a:xfrm>
            <a:off x="4819320" y="5004340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Result &amp; Trend Analysis</a:t>
            </a:r>
            <a:endParaRPr lang="en-US" sz="1000" dirty="0"/>
          </a:p>
        </p:txBody>
      </p:sp>
      <p:sp>
        <p:nvSpPr>
          <p:cNvPr id="62" name="Item Dot 6"/>
          <p:cNvSpPr/>
          <p:nvPr/>
        </p:nvSpPr>
        <p:spPr>
          <a:xfrm>
            <a:off x="4536440" y="5281448"/>
            <a:ext cx="182880" cy="18288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3" name="Item Check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880" y="5322888"/>
            <a:ext cx="100000" cy="100000"/>
          </a:xfrm>
          <a:prstGeom prst="rect">
            <a:avLst/>
          </a:prstGeom>
        </p:spPr>
      </p:pic>
      <p:sp>
        <p:nvSpPr>
          <p:cNvPr id="64" name="Item Text 6"/>
          <p:cNvSpPr txBox="1"/>
          <p:nvPr/>
        </p:nvSpPr>
        <p:spPr>
          <a:xfrm>
            <a:off x="4819320" y="5235728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Regulatory Compliance</a:t>
            </a:r>
            <a:endParaRPr lang="en-US" sz="1000" dirty="0"/>
          </a:p>
        </p:txBody>
      </p:sp>
      <p:sp>
        <p:nvSpPr>
          <p:cNvPr id="65" name="Card BG"/>
          <p:cNvSpPr/>
          <p:nvPr/>
        </p:nvSpPr>
        <p:spPr>
          <a:xfrm>
            <a:off x="8067040" y="1858720"/>
            <a:ext cx="3576320" cy="3668400"/>
          </a:xfrm>
          <a:prstGeom prst="roundRect">
            <a:avLst>
              <a:gd name="adj" fmla="val 3125"/>
            </a:avLst>
          </a:prstGeom>
          <a:solidFill>
            <a:srgbClr val="DFF5E8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Icon Circle"/>
          <p:cNvSpPr/>
          <p:nvPr/>
        </p:nvSpPr>
        <p:spPr>
          <a:xfrm>
            <a:off x="8295640" y="2087320"/>
            <a:ext cx="640080" cy="64008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7" name="Icon Img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660" y="2247340"/>
            <a:ext cx="320040" cy="320040"/>
          </a:xfrm>
          <a:prstGeom prst="rect">
            <a:avLst/>
          </a:prstGeom>
        </p:spPr>
      </p:pic>
      <p:sp>
        <p:nvSpPr>
          <p:cNvPr id="70" name="Card Title"/>
          <p:cNvSpPr txBox="1"/>
          <p:nvPr/>
        </p:nvSpPr>
        <p:spPr>
          <a:xfrm>
            <a:off x="8295640" y="2827400"/>
            <a:ext cx="311912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Buddy</a:t>
            </a:r>
            <a:endParaRPr lang="en-US" sz="1700" dirty="0"/>
          </a:p>
        </p:txBody>
      </p:sp>
      <p:sp>
        <p:nvSpPr>
          <p:cNvPr id="71" name="Card Subtitle"/>
          <p:cNvSpPr txBox="1"/>
          <p:nvPr/>
        </p:nvSpPr>
        <p:spPr>
          <a:xfrm>
            <a:off x="8295640" y="3167400"/>
            <a:ext cx="31191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Blood Requirement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Blood-Bank Connectivity</a:t>
            </a:r>
            <a:endParaRPr lang="en-US" sz="1400" dirty="0"/>
          </a:p>
        </p:txBody>
      </p:sp>
      <p:sp>
        <p:nvSpPr>
          <p:cNvPr id="72" name="Item Dot 0"/>
          <p:cNvSpPr/>
          <p:nvPr/>
        </p:nvSpPr>
        <p:spPr>
          <a:xfrm>
            <a:off x="8295640" y="3893120"/>
            <a:ext cx="182880" cy="18288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3" name="Item Check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080" y="3934560"/>
            <a:ext cx="100000" cy="100000"/>
          </a:xfrm>
          <a:prstGeom prst="rect">
            <a:avLst/>
          </a:prstGeom>
        </p:spPr>
      </p:pic>
      <p:sp>
        <p:nvSpPr>
          <p:cNvPr id="74" name="Item Text 0"/>
          <p:cNvSpPr txBox="1"/>
          <p:nvPr/>
        </p:nvSpPr>
        <p:spPr>
          <a:xfrm>
            <a:off x="8578520" y="3847400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Blood Requirement Registration</a:t>
            </a:r>
            <a:endParaRPr lang="en-US" sz="1000" dirty="0"/>
          </a:p>
        </p:txBody>
      </p:sp>
      <p:sp>
        <p:nvSpPr>
          <p:cNvPr id="75" name="Item Dot 1"/>
          <p:cNvSpPr/>
          <p:nvPr/>
        </p:nvSpPr>
        <p:spPr>
          <a:xfrm>
            <a:off x="8295640" y="4124508"/>
            <a:ext cx="182880" cy="18288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6" name="Item Check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080" y="4165948"/>
            <a:ext cx="100000" cy="100000"/>
          </a:xfrm>
          <a:prstGeom prst="rect">
            <a:avLst/>
          </a:prstGeom>
        </p:spPr>
      </p:pic>
      <p:sp>
        <p:nvSpPr>
          <p:cNvPr id="77" name="Item Text 1"/>
          <p:cNvSpPr txBox="1"/>
          <p:nvPr/>
        </p:nvSpPr>
        <p:spPr>
          <a:xfrm>
            <a:off x="8578520" y="4078788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Blood-Bank Availability Search</a:t>
            </a:r>
            <a:endParaRPr lang="en-US" sz="1000" dirty="0"/>
          </a:p>
        </p:txBody>
      </p:sp>
      <p:sp>
        <p:nvSpPr>
          <p:cNvPr id="78" name="Item Dot 2"/>
          <p:cNvSpPr/>
          <p:nvPr/>
        </p:nvSpPr>
        <p:spPr>
          <a:xfrm>
            <a:off x="8295640" y="4355896"/>
            <a:ext cx="182880" cy="18288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9" name="Item Check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080" y="4397336"/>
            <a:ext cx="100000" cy="100000"/>
          </a:xfrm>
          <a:prstGeom prst="rect">
            <a:avLst/>
          </a:prstGeom>
        </p:spPr>
      </p:pic>
      <p:sp>
        <p:nvSpPr>
          <p:cNvPr id="80" name="Item Text 2"/>
          <p:cNvSpPr txBox="1"/>
          <p:nvPr/>
        </p:nvSpPr>
        <p:spPr>
          <a:xfrm>
            <a:off x="8578520" y="4310176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Blood-Bank Matching</a:t>
            </a:r>
            <a:endParaRPr lang="en-US" sz="1000" dirty="0"/>
          </a:p>
        </p:txBody>
      </p:sp>
      <p:sp>
        <p:nvSpPr>
          <p:cNvPr id="81" name="Item Dot 3"/>
          <p:cNvSpPr/>
          <p:nvPr/>
        </p:nvSpPr>
        <p:spPr>
          <a:xfrm>
            <a:off x="8295640" y="4587284"/>
            <a:ext cx="182880" cy="18288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2" name="Item Check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080" y="4628724"/>
            <a:ext cx="100000" cy="100000"/>
          </a:xfrm>
          <a:prstGeom prst="rect">
            <a:avLst/>
          </a:prstGeom>
        </p:spPr>
      </p:pic>
      <p:sp>
        <p:nvSpPr>
          <p:cNvPr id="83" name="Item Text 3"/>
          <p:cNvSpPr txBox="1"/>
          <p:nvPr/>
        </p:nvSpPr>
        <p:spPr>
          <a:xfrm>
            <a:off x="8578520" y="4541564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Notifications &amp; Alerts</a:t>
            </a:r>
            <a:endParaRPr lang="en-US" sz="1000" dirty="0"/>
          </a:p>
        </p:txBody>
      </p:sp>
      <p:sp>
        <p:nvSpPr>
          <p:cNvPr id="84" name="Item Dot 4"/>
          <p:cNvSpPr/>
          <p:nvPr/>
        </p:nvSpPr>
        <p:spPr>
          <a:xfrm>
            <a:off x="8295640" y="4818672"/>
            <a:ext cx="182880" cy="18288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5" name="Item Check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080" y="4860112"/>
            <a:ext cx="100000" cy="100000"/>
          </a:xfrm>
          <a:prstGeom prst="rect">
            <a:avLst/>
          </a:prstGeom>
        </p:spPr>
      </p:pic>
      <p:sp>
        <p:nvSpPr>
          <p:cNvPr id="86" name="Item Text 4"/>
          <p:cNvSpPr txBox="1"/>
          <p:nvPr/>
        </p:nvSpPr>
        <p:spPr>
          <a:xfrm>
            <a:off x="8578520" y="4772952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Blood-Bank Details &amp; Location Sharing</a:t>
            </a:r>
            <a:endParaRPr lang="en-US" sz="1000" dirty="0"/>
          </a:p>
        </p:txBody>
      </p:sp>
      <p:sp>
        <p:nvSpPr>
          <p:cNvPr id="87" name="Item Dot 5"/>
          <p:cNvSpPr/>
          <p:nvPr/>
        </p:nvSpPr>
        <p:spPr>
          <a:xfrm>
            <a:off x="8295640" y="5050060"/>
            <a:ext cx="182880" cy="18288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8" name="Item Check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080" y="5091500"/>
            <a:ext cx="100000" cy="100000"/>
          </a:xfrm>
          <a:prstGeom prst="rect">
            <a:avLst/>
          </a:prstGeom>
        </p:spPr>
      </p:pic>
      <p:sp>
        <p:nvSpPr>
          <p:cNvPr id="89" name="Item Text 5"/>
          <p:cNvSpPr txBox="1"/>
          <p:nvPr/>
        </p:nvSpPr>
        <p:spPr>
          <a:xfrm>
            <a:off x="8578520" y="5004340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Patient &amp; Attendant Support</a:t>
            </a:r>
            <a:endParaRPr lang="en-US" sz="1000" dirty="0"/>
          </a:p>
        </p:txBody>
      </p:sp>
      <p:sp>
        <p:nvSpPr>
          <p:cNvPr id="90" name="Item Dot 6"/>
          <p:cNvSpPr/>
          <p:nvPr/>
        </p:nvSpPr>
        <p:spPr>
          <a:xfrm>
            <a:off x="8295640" y="5281448"/>
            <a:ext cx="182880" cy="18288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1" name="Item Check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080" y="5322888"/>
            <a:ext cx="100000" cy="100000"/>
          </a:xfrm>
          <a:prstGeom prst="rect">
            <a:avLst/>
          </a:prstGeom>
        </p:spPr>
      </p:pic>
      <p:sp>
        <p:nvSpPr>
          <p:cNvPr id="92" name="Item Text 6"/>
          <p:cNvSpPr txBox="1"/>
          <p:nvPr/>
        </p:nvSpPr>
        <p:spPr>
          <a:xfrm>
            <a:off x="8578520" y="5235728"/>
            <a:ext cx="2836240" cy="23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Prioritisation &amp; Routing</a:t>
            </a:r>
            <a:endParaRPr lang="en-US" sz="1000" dirty="0"/>
          </a:p>
        </p:txBody>
      </p:sp>
      <p:sp>
        <p:nvSpPr>
          <p:cNvPr id="93" name="Banner BG"/>
          <p:cNvSpPr/>
          <p:nvPr/>
        </p:nvSpPr>
        <p:spPr>
          <a:xfrm>
            <a:off x="548640" y="5710000"/>
            <a:ext cx="11094720" cy="640000"/>
          </a:xfrm>
          <a:prstGeom prst="roundRect">
            <a:avLst>
              <a:gd name="adj" fmla="val 12000"/>
            </a:avLst>
          </a:prstGeom>
          <a:solidFill>
            <a:srgbClr val="4B0C8C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4" name="Banner Text"/>
          <p:cNvSpPr txBox="1"/>
          <p:nvPr/>
        </p:nvSpPr>
        <p:spPr>
          <a:xfrm>
            <a:off x="822960" y="5710000"/>
            <a:ext cx="105460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4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Intelligent Digital Ecosystem for Every Hospital Need.”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 + Lab Management + Blood Buddy — unified by an AI &amp; Data Intelligence layer for better coordination, faster workflows and an improved patient experience.</a:t>
            </a:r>
            <a:endParaRPr lang="en-US" sz="1400" dirty="0"/>
          </a:p>
        </p:txBody>
      </p:sp>
      <p:sp>
        <p:nvSpPr>
          <p:cNvPr id="41" name="Badge BG">
            <a:extLst>
              <a:ext uri="{FF2B5EF4-FFF2-40B4-BE49-F238E27FC236}">
                <a16:creationId xmlns:a16="http://schemas.microsoft.com/office/drawing/2014/main" id="{A7C48F92-3150-B834-FE2E-3E900281A6D0}"/>
              </a:ext>
            </a:extLst>
          </p:cNvPr>
          <p:cNvSpPr/>
          <p:nvPr/>
        </p:nvSpPr>
        <p:spPr>
          <a:xfrm>
            <a:off x="1768160" y="2245782"/>
            <a:ext cx="1876000" cy="320040"/>
          </a:xfrm>
          <a:prstGeom prst="roundRect">
            <a:avLst>
              <a:gd name="adj" fmla="val 50000"/>
            </a:avLst>
          </a:prstGeom>
          <a:solidFill>
            <a:srgbClr val="F26B1D"/>
          </a:solidFill>
          <a:ln/>
          <a:effectLst/>
        </p:spPr>
        <p:txBody>
          <a:bodyPr/>
          <a:lstStyle/>
          <a:p>
            <a:endParaRPr lang="en-IN"/>
          </a:p>
        </p:txBody>
      </p:sp>
      <p:sp>
        <p:nvSpPr>
          <p:cNvPr id="68" name="Badge BG">
            <a:extLst>
              <a:ext uri="{FF2B5EF4-FFF2-40B4-BE49-F238E27FC236}">
                <a16:creationId xmlns:a16="http://schemas.microsoft.com/office/drawing/2014/main" id="{F32D7C8E-D90D-2631-DD49-D15795F3588D}"/>
              </a:ext>
            </a:extLst>
          </p:cNvPr>
          <p:cNvSpPr/>
          <p:nvPr/>
        </p:nvSpPr>
        <p:spPr>
          <a:xfrm>
            <a:off x="5715000" y="2220030"/>
            <a:ext cx="1876000" cy="320040"/>
          </a:xfrm>
          <a:prstGeom prst="roundRect">
            <a:avLst>
              <a:gd name="adj" fmla="val 50000"/>
            </a:avLst>
          </a:prstGeom>
          <a:solidFill>
            <a:srgbClr val="F26B1D"/>
          </a:solidFill>
          <a:ln/>
          <a:effectLst/>
        </p:spPr>
        <p:txBody>
          <a:bodyPr/>
          <a:lstStyle/>
          <a:p>
            <a:endParaRPr lang="en-IN"/>
          </a:p>
        </p:txBody>
      </p:sp>
      <p:sp>
        <p:nvSpPr>
          <p:cNvPr id="69" name="Badge BG">
            <a:extLst>
              <a:ext uri="{FF2B5EF4-FFF2-40B4-BE49-F238E27FC236}">
                <a16:creationId xmlns:a16="http://schemas.microsoft.com/office/drawing/2014/main" id="{037708DD-A146-9AC0-5FDA-529EA1D6A1D9}"/>
              </a:ext>
            </a:extLst>
          </p:cNvPr>
          <p:cNvSpPr/>
          <p:nvPr/>
        </p:nvSpPr>
        <p:spPr>
          <a:xfrm>
            <a:off x="9351540" y="2225255"/>
            <a:ext cx="1876000" cy="320040"/>
          </a:xfrm>
          <a:prstGeom prst="roundRect">
            <a:avLst>
              <a:gd name="adj" fmla="val 50000"/>
            </a:avLst>
          </a:prstGeom>
          <a:solidFill>
            <a:srgbClr val="F26B1D"/>
          </a:solidFill>
          <a:ln/>
          <a:effectLst/>
        </p:spPr>
        <p:txBody>
          <a:bodyPr/>
          <a:lstStyle/>
          <a:p>
            <a:endParaRPr lang="en-IN"/>
          </a:p>
        </p:txBody>
      </p:sp>
      <p:sp>
        <p:nvSpPr>
          <p:cNvPr id="97" name="Badge Text">
            <a:extLst>
              <a:ext uri="{FF2B5EF4-FFF2-40B4-BE49-F238E27FC236}">
                <a16:creationId xmlns:a16="http://schemas.microsoft.com/office/drawing/2014/main" id="{459B6749-6CAC-E1F2-14CE-0E91449D4498}"/>
              </a:ext>
            </a:extLst>
          </p:cNvPr>
          <p:cNvSpPr txBox="1"/>
          <p:nvPr/>
        </p:nvSpPr>
        <p:spPr>
          <a:xfrm>
            <a:off x="1371600" y="2234568"/>
            <a:ext cx="18760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Frame : </a:t>
            </a:r>
            <a:endParaRPr lang="en-US" sz="1050" dirty="0"/>
          </a:p>
        </p:txBody>
      </p:sp>
      <p:sp>
        <p:nvSpPr>
          <p:cNvPr id="98" name="Badge Text">
            <a:extLst>
              <a:ext uri="{FF2B5EF4-FFF2-40B4-BE49-F238E27FC236}">
                <a16:creationId xmlns:a16="http://schemas.microsoft.com/office/drawing/2014/main" id="{F3A60890-D63B-3BDC-C4DE-D48D72E47FF9}"/>
              </a:ext>
            </a:extLst>
          </p:cNvPr>
          <p:cNvSpPr txBox="1"/>
          <p:nvPr/>
        </p:nvSpPr>
        <p:spPr>
          <a:xfrm>
            <a:off x="5199380" y="2236550"/>
            <a:ext cx="18760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Frame : </a:t>
            </a:r>
            <a:endParaRPr lang="en-US" sz="1050" dirty="0"/>
          </a:p>
        </p:txBody>
      </p:sp>
      <p:sp>
        <p:nvSpPr>
          <p:cNvPr id="99" name="Badge Text">
            <a:extLst>
              <a:ext uri="{FF2B5EF4-FFF2-40B4-BE49-F238E27FC236}">
                <a16:creationId xmlns:a16="http://schemas.microsoft.com/office/drawing/2014/main" id="{148837D6-9048-EAAC-BC16-8A998EA9EEC4}"/>
              </a:ext>
            </a:extLst>
          </p:cNvPr>
          <p:cNvSpPr txBox="1"/>
          <p:nvPr/>
        </p:nvSpPr>
        <p:spPr>
          <a:xfrm>
            <a:off x="8917200" y="2236550"/>
            <a:ext cx="18760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Frame : 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Digital Solutions for Smarter Pharmacy Operations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332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connects pharmacy inventory, procurement and pharmaceutical supply chains through an integrated digital ecosystem.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a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 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  <p:sp>
        <p:nvSpPr>
          <p:cNvPr id="9" name="Card BG"/>
          <p:cNvSpPr/>
          <p:nvPr/>
        </p:nvSpPr>
        <p:spPr>
          <a:xfrm>
            <a:off x="548640" y="1858720"/>
            <a:ext cx="5455920" cy="3668400"/>
          </a:xfrm>
          <a:prstGeom prst="roundRect">
            <a:avLst>
              <a:gd name="adj" fmla="val 3125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Icon Circle"/>
          <p:cNvSpPr/>
          <p:nvPr/>
        </p:nvSpPr>
        <p:spPr>
          <a:xfrm>
            <a:off x="822960" y="213304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con Img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15920"/>
            <a:ext cx="365760" cy="365760"/>
          </a:xfrm>
          <a:prstGeom prst="rect">
            <a:avLst/>
          </a:prstGeom>
        </p:spPr>
      </p:pic>
      <p:sp>
        <p:nvSpPr>
          <p:cNvPr id="12" name="Badge BG"/>
          <p:cNvSpPr/>
          <p:nvPr/>
        </p:nvSpPr>
        <p:spPr>
          <a:xfrm>
            <a:off x="1714480" y="2338780"/>
            <a:ext cx="4015760" cy="320040"/>
          </a:xfrm>
          <a:prstGeom prst="roundRect">
            <a:avLst>
              <a:gd name="adj" fmla="val 50000"/>
            </a:avLst>
          </a:prstGeom>
          <a:solidFill>
            <a:srgbClr val="F26B1D"/>
          </a:solidFill>
          <a:ln/>
          <a:effectLst/>
        </p:spPr>
        <p:txBody>
          <a:bodyPr/>
          <a:lstStyle/>
          <a:p>
            <a:endParaRPr lang="en-IN"/>
          </a:p>
        </p:txBody>
      </p:sp>
      <p:sp>
        <p:nvSpPr>
          <p:cNvPr id="13" name="Badge Text"/>
          <p:cNvSpPr txBox="1"/>
          <p:nvPr/>
        </p:nvSpPr>
        <p:spPr>
          <a:xfrm>
            <a:off x="1405080" y="2323807"/>
            <a:ext cx="18760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Frame : </a:t>
            </a:r>
            <a:endParaRPr lang="en-US" sz="1600" dirty="0"/>
          </a:p>
        </p:txBody>
      </p:sp>
      <p:sp>
        <p:nvSpPr>
          <p:cNvPr id="14" name="Card Title"/>
          <p:cNvSpPr txBox="1"/>
          <p:nvPr/>
        </p:nvSpPr>
        <p:spPr>
          <a:xfrm>
            <a:off x="822960" y="2978860"/>
            <a:ext cx="490728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Inventory</a:t>
            </a:r>
            <a:endParaRPr lang="en-US" b="1" dirty="0"/>
          </a:p>
        </p:txBody>
      </p:sp>
      <p:sp>
        <p:nvSpPr>
          <p:cNvPr id="15" name="Card Subtitle"/>
          <p:cNvSpPr txBox="1"/>
          <p:nvPr/>
        </p:nvSpPr>
        <p:spPr>
          <a:xfrm>
            <a:off x="822960" y="3368860"/>
            <a:ext cx="49072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Pharmacy Inventory Management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Item Dot 0"/>
          <p:cNvSpPr/>
          <p:nvPr/>
        </p:nvSpPr>
        <p:spPr>
          <a:xfrm>
            <a:off x="822960" y="3824580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tem Check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3874872"/>
            <a:ext cx="128016" cy="128016"/>
          </a:xfrm>
          <a:prstGeom prst="rect">
            <a:avLst/>
          </a:prstGeom>
        </p:spPr>
      </p:pic>
      <p:sp>
        <p:nvSpPr>
          <p:cNvPr id="18" name="Item Text 0"/>
          <p:cNvSpPr txBox="1"/>
          <p:nvPr/>
        </p:nvSpPr>
        <p:spPr>
          <a:xfrm>
            <a:off x="1188720" y="3778860"/>
            <a:ext cx="4541520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Management</a:t>
            </a:r>
            <a:endParaRPr lang="en-US" sz="1400" dirty="0"/>
          </a:p>
        </p:txBody>
      </p:sp>
      <p:sp>
        <p:nvSpPr>
          <p:cNvPr id="19" name="Item Dot 1"/>
          <p:cNvSpPr/>
          <p:nvPr/>
        </p:nvSpPr>
        <p:spPr>
          <a:xfrm>
            <a:off x="822960" y="4102623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tem Check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152915"/>
            <a:ext cx="128016" cy="128016"/>
          </a:xfrm>
          <a:prstGeom prst="rect">
            <a:avLst/>
          </a:prstGeom>
        </p:spPr>
      </p:pic>
      <p:sp>
        <p:nvSpPr>
          <p:cNvPr id="21" name="Item Text 1"/>
          <p:cNvSpPr txBox="1"/>
          <p:nvPr/>
        </p:nvSpPr>
        <p:spPr>
          <a:xfrm>
            <a:off x="1188720" y="4056903"/>
            <a:ext cx="4541520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Expiry Tracking</a:t>
            </a:r>
            <a:endParaRPr lang="en-US" sz="1400" dirty="0"/>
          </a:p>
        </p:txBody>
      </p:sp>
      <p:sp>
        <p:nvSpPr>
          <p:cNvPr id="22" name="Item Dot 2"/>
          <p:cNvSpPr/>
          <p:nvPr/>
        </p:nvSpPr>
        <p:spPr>
          <a:xfrm>
            <a:off x="822960" y="4380666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tem Check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430958"/>
            <a:ext cx="128016" cy="128016"/>
          </a:xfrm>
          <a:prstGeom prst="rect">
            <a:avLst/>
          </a:prstGeom>
        </p:spPr>
      </p:pic>
      <p:sp>
        <p:nvSpPr>
          <p:cNvPr id="24" name="Item Text 2"/>
          <p:cNvSpPr txBox="1"/>
          <p:nvPr/>
        </p:nvSpPr>
        <p:spPr>
          <a:xfrm>
            <a:off x="1188720" y="4334946"/>
            <a:ext cx="4541520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&amp; Sales Management</a:t>
            </a:r>
            <a:endParaRPr lang="en-US" sz="1400" dirty="0"/>
          </a:p>
        </p:txBody>
      </p:sp>
      <p:sp>
        <p:nvSpPr>
          <p:cNvPr id="25" name="Item Dot 3"/>
          <p:cNvSpPr/>
          <p:nvPr/>
        </p:nvSpPr>
        <p:spPr>
          <a:xfrm>
            <a:off x="822960" y="4658709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tem Check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709001"/>
            <a:ext cx="128016" cy="128016"/>
          </a:xfrm>
          <a:prstGeom prst="rect">
            <a:avLst/>
          </a:prstGeom>
        </p:spPr>
      </p:pic>
      <p:sp>
        <p:nvSpPr>
          <p:cNvPr id="27" name="Item Text 3"/>
          <p:cNvSpPr txBox="1"/>
          <p:nvPr/>
        </p:nvSpPr>
        <p:spPr>
          <a:xfrm>
            <a:off x="1188720" y="4612989"/>
            <a:ext cx="4541520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Inventory Integration</a:t>
            </a:r>
            <a:endParaRPr lang="en-US" sz="1400" dirty="0"/>
          </a:p>
        </p:txBody>
      </p:sp>
      <p:sp>
        <p:nvSpPr>
          <p:cNvPr id="28" name="Item Dot 4"/>
          <p:cNvSpPr/>
          <p:nvPr/>
        </p:nvSpPr>
        <p:spPr>
          <a:xfrm>
            <a:off x="822960" y="4936752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tem Check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987044"/>
            <a:ext cx="128016" cy="128016"/>
          </a:xfrm>
          <a:prstGeom prst="rect">
            <a:avLst/>
          </a:prstGeom>
        </p:spPr>
      </p:pic>
      <p:sp>
        <p:nvSpPr>
          <p:cNvPr id="30" name="Item Text 4"/>
          <p:cNvSpPr txBox="1"/>
          <p:nvPr/>
        </p:nvSpPr>
        <p:spPr>
          <a:xfrm>
            <a:off x="1188720" y="4891032"/>
            <a:ext cx="4541520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Re-order &amp; Stock Intelligence</a:t>
            </a:r>
            <a:endParaRPr lang="en-US" sz="1400" dirty="0"/>
          </a:p>
        </p:txBody>
      </p:sp>
      <p:sp>
        <p:nvSpPr>
          <p:cNvPr id="31" name="Item Dot 5"/>
          <p:cNvSpPr/>
          <p:nvPr/>
        </p:nvSpPr>
        <p:spPr>
          <a:xfrm>
            <a:off x="822960" y="5214795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tem Check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265087"/>
            <a:ext cx="128016" cy="128016"/>
          </a:xfrm>
          <a:prstGeom prst="rect">
            <a:avLst/>
          </a:prstGeom>
        </p:spPr>
      </p:pic>
      <p:sp>
        <p:nvSpPr>
          <p:cNvPr id="33" name="Item Text 5"/>
          <p:cNvSpPr txBox="1"/>
          <p:nvPr/>
        </p:nvSpPr>
        <p:spPr>
          <a:xfrm>
            <a:off x="1188720" y="5169075"/>
            <a:ext cx="4541520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Management Insights</a:t>
            </a:r>
            <a:endParaRPr lang="en-US" sz="1400" dirty="0"/>
          </a:p>
        </p:txBody>
      </p:sp>
      <p:sp>
        <p:nvSpPr>
          <p:cNvPr id="34" name="Card BG"/>
          <p:cNvSpPr/>
          <p:nvPr/>
        </p:nvSpPr>
        <p:spPr>
          <a:xfrm>
            <a:off x="6187440" y="1858720"/>
            <a:ext cx="5455920" cy="3668400"/>
          </a:xfrm>
          <a:prstGeom prst="roundRect">
            <a:avLst>
              <a:gd name="adj" fmla="val 3125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Icon Circle"/>
          <p:cNvSpPr/>
          <p:nvPr/>
        </p:nvSpPr>
        <p:spPr>
          <a:xfrm>
            <a:off x="6461760" y="2133040"/>
            <a:ext cx="731520" cy="73152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con Img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640" y="2315920"/>
            <a:ext cx="365760" cy="365760"/>
          </a:xfrm>
          <a:prstGeom prst="rect">
            <a:avLst/>
          </a:prstGeom>
        </p:spPr>
      </p:pic>
      <p:sp>
        <p:nvSpPr>
          <p:cNvPr id="37" name="Badge BG"/>
          <p:cNvSpPr/>
          <p:nvPr/>
        </p:nvSpPr>
        <p:spPr>
          <a:xfrm>
            <a:off x="7353280" y="2338780"/>
            <a:ext cx="3980680" cy="320040"/>
          </a:xfrm>
          <a:prstGeom prst="roundRect">
            <a:avLst>
              <a:gd name="adj" fmla="val 50000"/>
            </a:avLst>
          </a:prstGeom>
          <a:solidFill>
            <a:srgbClr val="4B0C8C"/>
          </a:solidFill>
          <a:ln/>
          <a:effectLst/>
        </p:spPr>
        <p:txBody>
          <a:bodyPr/>
          <a:lstStyle/>
          <a:p>
            <a:endParaRPr lang="en-IN"/>
          </a:p>
        </p:txBody>
      </p:sp>
      <p:sp>
        <p:nvSpPr>
          <p:cNvPr id="38" name="Badge Text"/>
          <p:cNvSpPr txBox="1"/>
          <p:nvPr/>
        </p:nvSpPr>
        <p:spPr>
          <a:xfrm>
            <a:off x="6004560" y="2315447"/>
            <a:ext cx="39806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Frame : </a:t>
            </a:r>
            <a:endParaRPr lang="en-US" sz="1600" dirty="0"/>
          </a:p>
        </p:txBody>
      </p:sp>
      <p:sp>
        <p:nvSpPr>
          <p:cNvPr id="39" name="Card Title"/>
          <p:cNvSpPr txBox="1"/>
          <p:nvPr/>
        </p:nvSpPr>
        <p:spPr>
          <a:xfrm>
            <a:off x="6461760" y="2978860"/>
            <a:ext cx="490728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Marketplace</a:t>
            </a:r>
            <a:endParaRPr lang="en-US" b="1" dirty="0"/>
          </a:p>
        </p:txBody>
      </p:sp>
      <p:sp>
        <p:nvSpPr>
          <p:cNvPr id="40" name="Card Subtitle"/>
          <p:cNvSpPr txBox="1"/>
          <p:nvPr/>
        </p:nvSpPr>
        <p:spPr>
          <a:xfrm>
            <a:off x="6461760" y="3368860"/>
            <a:ext cx="49072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B2B Pharma Procurement Platform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1" name="Item Dot 0"/>
          <p:cNvSpPr/>
          <p:nvPr/>
        </p:nvSpPr>
        <p:spPr>
          <a:xfrm>
            <a:off x="6461760" y="3824580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tem Check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3874872"/>
            <a:ext cx="128016" cy="128016"/>
          </a:xfrm>
          <a:prstGeom prst="rect">
            <a:avLst/>
          </a:prstGeom>
        </p:spPr>
      </p:pic>
      <p:sp>
        <p:nvSpPr>
          <p:cNvPr id="43" name="Item Text 0"/>
          <p:cNvSpPr txBox="1"/>
          <p:nvPr/>
        </p:nvSpPr>
        <p:spPr>
          <a:xfrm>
            <a:off x="6827520" y="3778860"/>
            <a:ext cx="4541520" cy="238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&amp; Supplier Connectivity</a:t>
            </a:r>
            <a:endParaRPr lang="en-US" sz="1400" dirty="0"/>
          </a:p>
        </p:txBody>
      </p:sp>
      <p:sp>
        <p:nvSpPr>
          <p:cNvPr id="44" name="Item Dot 1"/>
          <p:cNvSpPr/>
          <p:nvPr/>
        </p:nvSpPr>
        <p:spPr>
          <a:xfrm>
            <a:off x="6461760" y="4062902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tem Check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4113194"/>
            <a:ext cx="128016" cy="128016"/>
          </a:xfrm>
          <a:prstGeom prst="rect">
            <a:avLst/>
          </a:prstGeom>
        </p:spPr>
      </p:pic>
      <p:sp>
        <p:nvSpPr>
          <p:cNvPr id="46" name="Item Text 1"/>
          <p:cNvSpPr txBox="1"/>
          <p:nvPr/>
        </p:nvSpPr>
        <p:spPr>
          <a:xfrm>
            <a:off x="6827520" y="4017182"/>
            <a:ext cx="4541520" cy="238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 &amp; SKU Management</a:t>
            </a:r>
            <a:endParaRPr lang="en-US" sz="1400" dirty="0"/>
          </a:p>
        </p:txBody>
      </p:sp>
      <p:sp>
        <p:nvSpPr>
          <p:cNvPr id="47" name="Item Dot 2"/>
          <p:cNvSpPr/>
          <p:nvPr/>
        </p:nvSpPr>
        <p:spPr>
          <a:xfrm>
            <a:off x="6461760" y="4301224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tem Check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4351516"/>
            <a:ext cx="128016" cy="128016"/>
          </a:xfrm>
          <a:prstGeom prst="rect">
            <a:avLst/>
          </a:prstGeom>
        </p:spPr>
      </p:pic>
      <p:sp>
        <p:nvSpPr>
          <p:cNvPr id="49" name="Item Text 2"/>
          <p:cNvSpPr txBox="1"/>
          <p:nvPr/>
        </p:nvSpPr>
        <p:spPr>
          <a:xfrm>
            <a:off x="6827520" y="4255504"/>
            <a:ext cx="4541520" cy="238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&amp; Price Comparison</a:t>
            </a:r>
            <a:endParaRPr lang="en-US" sz="1400" dirty="0"/>
          </a:p>
        </p:txBody>
      </p:sp>
      <p:sp>
        <p:nvSpPr>
          <p:cNvPr id="50" name="Item Dot 3"/>
          <p:cNvSpPr/>
          <p:nvPr/>
        </p:nvSpPr>
        <p:spPr>
          <a:xfrm>
            <a:off x="6461760" y="4539546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Item Check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4589838"/>
            <a:ext cx="128016" cy="128016"/>
          </a:xfrm>
          <a:prstGeom prst="rect">
            <a:avLst/>
          </a:prstGeom>
        </p:spPr>
      </p:pic>
      <p:sp>
        <p:nvSpPr>
          <p:cNvPr id="52" name="Item Text 3"/>
          <p:cNvSpPr txBox="1"/>
          <p:nvPr/>
        </p:nvSpPr>
        <p:spPr>
          <a:xfrm>
            <a:off x="6827520" y="4493826"/>
            <a:ext cx="4541520" cy="238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Order Management</a:t>
            </a:r>
            <a:endParaRPr lang="en-US" sz="1400" dirty="0"/>
          </a:p>
        </p:txBody>
      </p:sp>
      <p:sp>
        <p:nvSpPr>
          <p:cNvPr id="53" name="Item Dot 4"/>
          <p:cNvSpPr/>
          <p:nvPr/>
        </p:nvSpPr>
        <p:spPr>
          <a:xfrm>
            <a:off x="6461760" y="4777868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tem Check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4828160"/>
            <a:ext cx="128016" cy="128016"/>
          </a:xfrm>
          <a:prstGeom prst="rect">
            <a:avLst/>
          </a:prstGeom>
        </p:spPr>
      </p:pic>
      <p:sp>
        <p:nvSpPr>
          <p:cNvPr id="55" name="Item Text 4"/>
          <p:cNvSpPr txBox="1"/>
          <p:nvPr/>
        </p:nvSpPr>
        <p:spPr>
          <a:xfrm>
            <a:off x="6827520" y="4732148"/>
            <a:ext cx="4541520" cy="238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&amp; Returns</a:t>
            </a:r>
            <a:endParaRPr lang="en-US" sz="1400" dirty="0"/>
          </a:p>
        </p:txBody>
      </p:sp>
      <p:sp>
        <p:nvSpPr>
          <p:cNvPr id="56" name="Item Dot 5"/>
          <p:cNvSpPr/>
          <p:nvPr/>
        </p:nvSpPr>
        <p:spPr>
          <a:xfrm>
            <a:off x="6461760" y="5016190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7" name="Item Check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5066482"/>
            <a:ext cx="128016" cy="128016"/>
          </a:xfrm>
          <a:prstGeom prst="rect">
            <a:avLst/>
          </a:prstGeom>
        </p:spPr>
      </p:pic>
      <p:sp>
        <p:nvSpPr>
          <p:cNvPr id="58" name="Item Text 5"/>
          <p:cNvSpPr txBox="1"/>
          <p:nvPr/>
        </p:nvSpPr>
        <p:spPr>
          <a:xfrm>
            <a:off x="6827520" y="4970470"/>
            <a:ext cx="4541520" cy="238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Procurement &amp; Supplier Insights</a:t>
            </a:r>
            <a:endParaRPr lang="en-US" sz="1400" dirty="0"/>
          </a:p>
        </p:txBody>
      </p:sp>
      <p:sp>
        <p:nvSpPr>
          <p:cNvPr id="59" name="Item Dot 6"/>
          <p:cNvSpPr/>
          <p:nvPr/>
        </p:nvSpPr>
        <p:spPr>
          <a:xfrm>
            <a:off x="6461760" y="5254512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0" name="Item Check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5304804"/>
            <a:ext cx="128016" cy="128016"/>
          </a:xfrm>
          <a:prstGeom prst="rect">
            <a:avLst/>
          </a:prstGeom>
        </p:spPr>
      </p:pic>
      <p:sp>
        <p:nvSpPr>
          <p:cNvPr id="61" name="Item Text 6"/>
          <p:cNvSpPr txBox="1"/>
          <p:nvPr/>
        </p:nvSpPr>
        <p:spPr>
          <a:xfrm>
            <a:off x="6827520" y="5208792"/>
            <a:ext cx="4541520" cy="238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Integration</a:t>
            </a:r>
            <a:endParaRPr lang="en-US" sz="1400" dirty="0"/>
          </a:p>
        </p:txBody>
      </p:sp>
      <p:sp>
        <p:nvSpPr>
          <p:cNvPr id="62" name="Banner BG"/>
          <p:cNvSpPr/>
          <p:nvPr/>
        </p:nvSpPr>
        <p:spPr>
          <a:xfrm>
            <a:off x="548640" y="5710000"/>
            <a:ext cx="11094720" cy="719944"/>
          </a:xfrm>
          <a:prstGeom prst="roundRect">
            <a:avLst>
              <a:gd name="adj" fmla="val 12000"/>
            </a:avLst>
          </a:prstGeom>
          <a:solidFill>
            <a:srgbClr val="4B0C8C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Banner Text"/>
          <p:cNvSpPr txBox="1"/>
          <p:nvPr/>
        </p:nvSpPr>
        <p:spPr>
          <a:xfrm>
            <a:off x="683260" y="5824009"/>
            <a:ext cx="11369040" cy="4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Pharmacy Inventory to Intelligent Pharma Procurement.”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Inventory + Pharma Marketplace — connected by AI &amp; data intelligence for smart procurement, optimized inventory and a connected supply chain.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 Sports Zone — Integrated Sports, Fitness &amp; Wellness Ecosystem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332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Sports, fitness, recreation and wellness activities brought together through physical facilities supported by a digital booking platform.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a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 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Card BG"/>
          <p:cNvSpPr/>
          <p:nvPr/>
        </p:nvSpPr>
        <p:spPr>
          <a:xfrm>
            <a:off x="548640" y="1858720"/>
            <a:ext cx="5455920" cy="3608400"/>
          </a:xfrm>
          <a:prstGeom prst="roundRect">
            <a:avLst>
              <a:gd name="adj" fmla="val 3125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Icon Circle"/>
          <p:cNvSpPr/>
          <p:nvPr/>
        </p:nvSpPr>
        <p:spPr>
          <a:xfrm>
            <a:off x="822960" y="2133040"/>
            <a:ext cx="731520" cy="73152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con Img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15920"/>
            <a:ext cx="365760" cy="365760"/>
          </a:xfrm>
          <a:prstGeom prst="rect">
            <a:avLst/>
          </a:prstGeom>
        </p:spPr>
      </p:pic>
      <p:sp>
        <p:nvSpPr>
          <p:cNvPr id="12" name="Badge BG"/>
          <p:cNvSpPr/>
          <p:nvPr/>
        </p:nvSpPr>
        <p:spPr>
          <a:xfrm>
            <a:off x="1714480" y="2338780"/>
            <a:ext cx="3321346" cy="320040"/>
          </a:xfrm>
          <a:prstGeom prst="roundRect">
            <a:avLst>
              <a:gd name="adj" fmla="val 50000"/>
            </a:avLst>
          </a:prstGeom>
          <a:solidFill>
            <a:srgbClr val="4B0C8C"/>
          </a:solidFill>
          <a:ln/>
          <a:effectLst/>
        </p:spPr>
        <p:txBody>
          <a:bodyPr/>
          <a:lstStyle/>
          <a:p>
            <a:endParaRPr lang="en-IN"/>
          </a:p>
        </p:txBody>
      </p:sp>
      <p:sp>
        <p:nvSpPr>
          <p:cNvPr id="13" name="Badge Text"/>
          <p:cNvSpPr txBox="1"/>
          <p:nvPr/>
        </p:nvSpPr>
        <p:spPr>
          <a:xfrm>
            <a:off x="2446403" y="2338780"/>
            <a:ext cx="1373277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MULTI-SPORT DESTINATION</a:t>
            </a:r>
            <a:endParaRPr lang="en-US" sz="1600" dirty="0"/>
          </a:p>
        </p:txBody>
      </p:sp>
      <p:sp>
        <p:nvSpPr>
          <p:cNvPr id="14" name="Card Title"/>
          <p:cNvSpPr txBox="1"/>
          <p:nvPr/>
        </p:nvSpPr>
        <p:spPr>
          <a:xfrm>
            <a:off x="822960" y="2978860"/>
            <a:ext cx="490728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Sports Zone</a:t>
            </a:r>
            <a:endParaRPr lang="en-US" sz="2000" dirty="0"/>
          </a:p>
        </p:txBody>
      </p:sp>
      <p:sp>
        <p:nvSpPr>
          <p:cNvPr id="15" name="Card Subtitle"/>
          <p:cNvSpPr txBox="1"/>
          <p:nvPr/>
        </p:nvSpPr>
        <p:spPr>
          <a:xfrm>
            <a:off x="822960" y="3368860"/>
            <a:ext cx="49072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Multi-Sport &amp; Active Lifestyle Destination</a:t>
            </a:r>
          </a:p>
        </p:txBody>
      </p:sp>
      <p:sp>
        <p:nvSpPr>
          <p:cNvPr id="16" name="Item Dot 0"/>
          <p:cNvSpPr/>
          <p:nvPr/>
        </p:nvSpPr>
        <p:spPr>
          <a:xfrm>
            <a:off x="822960" y="3824580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tem Check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3874872"/>
            <a:ext cx="128016" cy="128016"/>
          </a:xfrm>
          <a:prstGeom prst="rect">
            <a:avLst/>
          </a:prstGeom>
        </p:spPr>
      </p:pic>
      <p:sp>
        <p:nvSpPr>
          <p:cNvPr id="18" name="Item Text 0"/>
          <p:cNvSpPr txBox="1"/>
          <p:nvPr/>
        </p:nvSpPr>
        <p:spPr>
          <a:xfrm>
            <a:off x="1188720" y="3778860"/>
            <a:ext cx="4541520" cy="22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&amp; Outdoor Sports Facilities</a:t>
            </a:r>
            <a:endParaRPr lang="en-US" sz="1400" dirty="0"/>
          </a:p>
        </p:txBody>
      </p:sp>
      <p:sp>
        <p:nvSpPr>
          <p:cNvPr id="19" name="Item Dot 1"/>
          <p:cNvSpPr/>
          <p:nvPr/>
        </p:nvSpPr>
        <p:spPr>
          <a:xfrm>
            <a:off x="822960" y="4054331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tem Check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104623"/>
            <a:ext cx="128016" cy="128016"/>
          </a:xfrm>
          <a:prstGeom prst="rect">
            <a:avLst/>
          </a:prstGeom>
        </p:spPr>
      </p:pic>
      <p:sp>
        <p:nvSpPr>
          <p:cNvPr id="21" name="Item Text 1"/>
          <p:cNvSpPr txBox="1"/>
          <p:nvPr/>
        </p:nvSpPr>
        <p:spPr>
          <a:xfrm>
            <a:off x="1188720" y="4008611"/>
            <a:ext cx="4541520" cy="22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Fitness &amp; Training Programs</a:t>
            </a:r>
          </a:p>
        </p:txBody>
      </p:sp>
      <p:sp>
        <p:nvSpPr>
          <p:cNvPr id="22" name="Item Dot 2"/>
          <p:cNvSpPr/>
          <p:nvPr/>
        </p:nvSpPr>
        <p:spPr>
          <a:xfrm>
            <a:off x="822960" y="4284082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tem Check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334374"/>
            <a:ext cx="128016" cy="128016"/>
          </a:xfrm>
          <a:prstGeom prst="rect">
            <a:avLst/>
          </a:prstGeom>
        </p:spPr>
      </p:pic>
      <p:sp>
        <p:nvSpPr>
          <p:cNvPr id="24" name="Item Text 2"/>
          <p:cNvSpPr txBox="1"/>
          <p:nvPr/>
        </p:nvSpPr>
        <p:spPr>
          <a:xfrm>
            <a:off x="1188720" y="4238362"/>
            <a:ext cx="4541520" cy="22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Sports Coaching &amp; Skill Development</a:t>
            </a:r>
          </a:p>
        </p:txBody>
      </p:sp>
      <p:sp>
        <p:nvSpPr>
          <p:cNvPr id="25" name="Item Dot 3"/>
          <p:cNvSpPr/>
          <p:nvPr/>
        </p:nvSpPr>
        <p:spPr>
          <a:xfrm>
            <a:off x="822960" y="4513833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tem Check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564125"/>
            <a:ext cx="128016" cy="128016"/>
          </a:xfrm>
          <a:prstGeom prst="rect">
            <a:avLst/>
          </a:prstGeom>
        </p:spPr>
      </p:pic>
      <p:sp>
        <p:nvSpPr>
          <p:cNvPr id="27" name="Item Text 3"/>
          <p:cNvSpPr txBox="1"/>
          <p:nvPr/>
        </p:nvSpPr>
        <p:spPr>
          <a:xfrm>
            <a:off x="1188720" y="4468113"/>
            <a:ext cx="4541520" cy="22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Recreational &amp; Community Activities</a:t>
            </a:r>
          </a:p>
        </p:txBody>
      </p:sp>
      <p:sp>
        <p:nvSpPr>
          <p:cNvPr id="28" name="Item Dot 4"/>
          <p:cNvSpPr/>
          <p:nvPr/>
        </p:nvSpPr>
        <p:spPr>
          <a:xfrm>
            <a:off x="822960" y="4743584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tem Check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4793876"/>
            <a:ext cx="128016" cy="128016"/>
          </a:xfrm>
          <a:prstGeom prst="rect">
            <a:avLst/>
          </a:prstGeom>
        </p:spPr>
      </p:pic>
      <p:sp>
        <p:nvSpPr>
          <p:cNvPr id="30" name="Item Text 4"/>
          <p:cNvSpPr txBox="1"/>
          <p:nvPr/>
        </p:nvSpPr>
        <p:spPr>
          <a:xfrm>
            <a:off x="1188720" y="4697864"/>
            <a:ext cx="4541520" cy="22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Tournaments &amp; Sporting Events</a:t>
            </a:r>
          </a:p>
        </p:txBody>
      </p:sp>
      <p:sp>
        <p:nvSpPr>
          <p:cNvPr id="31" name="Item Dot 5"/>
          <p:cNvSpPr/>
          <p:nvPr/>
        </p:nvSpPr>
        <p:spPr>
          <a:xfrm>
            <a:off x="822960" y="4973335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tem Check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023627"/>
            <a:ext cx="128016" cy="128016"/>
          </a:xfrm>
          <a:prstGeom prst="rect">
            <a:avLst/>
          </a:prstGeom>
        </p:spPr>
      </p:pic>
      <p:sp>
        <p:nvSpPr>
          <p:cNvPr id="33" name="Item Text 5"/>
          <p:cNvSpPr txBox="1"/>
          <p:nvPr/>
        </p:nvSpPr>
        <p:spPr>
          <a:xfrm>
            <a:off x="1188720" y="4927615"/>
            <a:ext cx="4541520" cy="22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Youth &amp; Grassroots Sports Development</a:t>
            </a:r>
          </a:p>
        </p:txBody>
      </p:sp>
      <p:sp>
        <p:nvSpPr>
          <p:cNvPr id="34" name="Item Dot 6"/>
          <p:cNvSpPr/>
          <p:nvPr/>
        </p:nvSpPr>
        <p:spPr>
          <a:xfrm>
            <a:off x="822960" y="5203086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tem Check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253378"/>
            <a:ext cx="128016" cy="128016"/>
          </a:xfrm>
          <a:prstGeom prst="rect">
            <a:avLst/>
          </a:prstGeom>
        </p:spPr>
      </p:pic>
      <p:sp>
        <p:nvSpPr>
          <p:cNvPr id="36" name="Item Text 6"/>
          <p:cNvSpPr txBox="1"/>
          <p:nvPr/>
        </p:nvSpPr>
        <p:spPr>
          <a:xfrm>
            <a:off x="1188720" y="5157366"/>
            <a:ext cx="4541520" cy="22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Membership, Facility &amp; Performance Mgmt.</a:t>
            </a:r>
          </a:p>
        </p:txBody>
      </p:sp>
      <p:sp>
        <p:nvSpPr>
          <p:cNvPr id="37" name="Card BG"/>
          <p:cNvSpPr/>
          <p:nvPr/>
        </p:nvSpPr>
        <p:spPr>
          <a:xfrm>
            <a:off x="6187440" y="1872672"/>
            <a:ext cx="5455920" cy="3608400"/>
          </a:xfrm>
          <a:prstGeom prst="roundRect">
            <a:avLst>
              <a:gd name="adj" fmla="val 3125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Icon Circle"/>
          <p:cNvSpPr/>
          <p:nvPr/>
        </p:nvSpPr>
        <p:spPr>
          <a:xfrm>
            <a:off x="6461760" y="2133040"/>
            <a:ext cx="731520" cy="73152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con Img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640" y="2315920"/>
            <a:ext cx="365760" cy="365760"/>
          </a:xfrm>
          <a:prstGeom prst="rect">
            <a:avLst/>
          </a:prstGeom>
        </p:spPr>
      </p:pic>
      <p:sp>
        <p:nvSpPr>
          <p:cNvPr id="40" name="Badge BG"/>
          <p:cNvSpPr/>
          <p:nvPr/>
        </p:nvSpPr>
        <p:spPr>
          <a:xfrm>
            <a:off x="7353280" y="2338780"/>
            <a:ext cx="2705120" cy="320040"/>
          </a:xfrm>
          <a:prstGeom prst="roundRect">
            <a:avLst>
              <a:gd name="adj" fmla="val 50000"/>
            </a:avLst>
          </a:prstGeom>
          <a:solidFill>
            <a:srgbClr val="F26B1D"/>
          </a:solidFill>
          <a:ln/>
          <a:effectLst/>
        </p:spPr>
        <p:txBody>
          <a:bodyPr/>
          <a:lstStyle/>
          <a:p>
            <a:endParaRPr lang="en-IN"/>
          </a:p>
        </p:txBody>
      </p:sp>
      <p:sp>
        <p:nvSpPr>
          <p:cNvPr id="41" name="Badge Text"/>
          <p:cNvSpPr txBox="1"/>
          <p:nvPr/>
        </p:nvSpPr>
        <p:spPr>
          <a:xfrm>
            <a:off x="7907728" y="2307586"/>
            <a:ext cx="131364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LIVE · BOOKING APP</a:t>
            </a:r>
          </a:p>
        </p:txBody>
      </p:sp>
      <p:sp>
        <p:nvSpPr>
          <p:cNvPr id="42" name="Card Title"/>
          <p:cNvSpPr txBox="1"/>
          <p:nvPr/>
        </p:nvSpPr>
        <p:spPr>
          <a:xfrm>
            <a:off x="6461760" y="2978860"/>
            <a:ext cx="4907280" cy="3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 Sports Zone App</a:t>
            </a:r>
            <a:endParaRPr lang="en-US" sz="2000" dirty="0"/>
          </a:p>
        </p:txBody>
      </p:sp>
      <p:sp>
        <p:nvSpPr>
          <p:cNvPr id="43" name="Card Subtitle"/>
          <p:cNvSpPr txBox="1"/>
          <p:nvPr/>
        </p:nvSpPr>
        <p:spPr>
          <a:xfrm>
            <a:off x="6461760" y="3368860"/>
            <a:ext cx="490728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Basic Slot Booking App — Already Developed</a:t>
            </a:r>
          </a:p>
        </p:txBody>
      </p:sp>
      <p:sp>
        <p:nvSpPr>
          <p:cNvPr id="44" name="Item Dot 0"/>
          <p:cNvSpPr/>
          <p:nvPr/>
        </p:nvSpPr>
        <p:spPr>
          <a:xfrm>
            <a:off x="6461760" y="3824580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tem Check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3874872"/>
            <a:ext cx="128016" cy="128016"/>
          </a:xfrm>
          <a:prstGeom prst="rect">
            <a:avLst/>
          </a:prstGeom>
        </p:spPr>
      </p:pic>
      <p:sp>
        <p:nvSpPr>
          <p:cNvPr id="46" name="Item Text 0"/>
          <p:cNvSpPr txBox="1"/>
          <p:nvPr/>
        </p:nvSpPr>
        <p:spPr>
          <a:xfrm>
            <a:off x="6827520" y="3778860"/>
            <a:ext cx="4541520" cy="25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View Available Sports / Facilities</a:t>
            </a:r>
          </a:p>
        </p:txBody>
      </p:sp>
      <p:sp>
        <p:nvSpPr>
          <p:cNvPr id="47" name="Item Dot 1"/>
          <p:cNvSpPr/>
          <p:nvPr/>
        </p:nvSpPr>
        <p:spPr>
          <a:xfrm>
            <a:off x="6461760" y="4082232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tem Check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4132524"/>
            <a:ext cx="128016" cy="128016"/>
          </a:xfrm>
          <a:prstGeom prst="rect">
            <a:avLst/>
          </a:prstGeom>
        </p:spPr>
      </p:pic>
      <p:sp>
        <p:nvSpPr>
          <p:cNvPr id="49" name="Item Text 1"/>
          <p:cNvSpPr txBox="1"/>
          <p:nvPr/>
        </p:nvSpPr>
        <p:spPr>
          <a:xfrm>
            <a:off x="6827520" y="4036512"/>
            <a:ext cx="4541520" cy="25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Check Available Time Slots</a:t>
            </a:r>
          </a:p>
        </p:txBody>
      </p:sp>
      <p:sp>
        <p:nvSpPr>
          <p:cNvPr id="50" name="Item Dot 2"/>
          <p:cNvSpPr/>
          <p:nvPr/>
        </p:nvSpPr>
        <p:spPr>
          <a:xfrm>
            <a:off x="6461760" y="4339884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Item Check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4390176"/>
            <a:ext cx="128016" cy="128016"/>
          </a:xfrm>
          <a:prstGeom prst="rect">
            <a:avLst/>
          </a:prstGeom>
        </p:spPr>
      </p:pic>
      <p:sp>
        <p:nvSpPr>
          <p:cNvPr id="52" name="Item Text 2"/>
          <p:cNvSpPr txBox="1"/>
          <p:nvPr/>
        </p:nvSpPr>
        <p:spPr>
          <a:xfrm>
            <a:off x="6827520" y="4294164"/>
            <a:ext cx="4541520" cy="25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Slot Booking</a:t>
            </a:r>
          </a:p>
        </p:txBody>
      </p:sp>
      <p:sp>
        <p:nvSpPr>
          <p:cNvPr id="53" name="Item Dot 3"/>
          <p:cNvSpPr/>
          <p:nvPr/>
        </p:nvSpPr>
        <p:spPr>
          <a:xfrm>
            <a:off x="6461760" y="4597536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tem Check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4647828"/>
            <a:ext cx="128016" cy="128016"/>
          </a:xfrm>
          <a:prstGeom prst="rect">
            <a:avLst/>
          </a:prstGeom>
        </p:spPr>
      </p:pic>
      <p:sp>
        <p:nvSpPr>
          <p:cNvPr id="55" name="Item Text 3"/>
          <p:cNvSpPr txBox="1"/>
          <p:nvPr/>
        </p:nvSpPr>
        <p:spPr>
          <a:xfrm>
            <a:off x="6827520" y="4551816"/>
            <a:ext cx="4541520" cy="25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Booking Confirmation</a:t>
            </a:r>
          </a:p>
        </p:txBody>
      </p:sp>
      <p:sp>
        <p:nvSpPr>
          <p:cNvPr id="56" name="Item Dot 4"/>
          <p:cNvSpPr/>
          <p:nvPr/>
        </p:nvSpPr>
        <p:spPr>
          <a:xfrm>
            <a:off x="6461760" y="4855188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7" name="Item Check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052" y="4905480"/>
            <a:ext cx="128016" cy="128016"/>
          </a:xfrm>
          <a:prstGeom prst="rect">
            <a:avLst/>
          </a:prstGeom>
        </p:spPr>
      </p:pic>
      <p:sp>
        <p:nvSpPr>
          <p:cNvPr id="58" name="Item Text 4"/>
          <p:cNvSpPr txBox="1"/>
          <p:nvPr/>
        </p:nvSpPr>
        <p:spPr>
          <a:xfrm>
            <a:off x="6827520" y="4809468"/>
            <a:ext cx="4541520" cy="257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Basic User &amp; Booking Management</a:t>
            </a:r>
          </a:p>
        </p:txBody>
      </p:sp>
      <p:sp>
        <p:nvSpPr>
          <p:cNvPr id="59" name="Card Note"/>
          <p:cNvSpPr txBox="1"/>
          <p:nvPr/>
        </p:nvSpPr>
        <p:spPr>
          <a:xfrm>
            <a:off x="6461760" y="5107120"/>
            <a:ext cx="49072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Basic Booking App → Enhanced Digital Platform → Integrated Sports &amp; Wellness Ecosystem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0" name="Banner BG"/>
          <p:cNvSpPr/>
          <p:nvPr/>
        </p:nvSpPr>
        <p:spPr>
          <a:xfrm>
            <a:off x="548640" y="5650000"/>
            <a:ext cx="11094720" cy="700000"/>
          </a:xfrm>
          <a:prstGeom prst="roundRect">
            <a:avLst>
              <a:gd name="adj" fmla="val 12000"/>
            </a:avLst>
          </a:prstGeom>
          <a:solidFill>
            <a:srgbClr val="4B0C8C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Banner Text"/>
          <p:cNvSpPr txBox="1"/>
          <p:nvPr/>
        </p:nvSpPr>
        <p:spPr>
          <a:xfrm>
            <a:off x="822960" y="5650000"/>
            <a:ext cx="1054608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6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Play. Perform. Connect. Live Well.”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basic slot-booking app today to a fully integrated sports, fitness and wellness ecosystem for the community.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97316"/>
                </a:solidFill>
                <a:ea typeface="Arial" pitchFamily="34" charset="-122"/>
                <a:cs typeface="Arial" pitchFamily="34" charset="-120"/>
              </a:rPr>
              <a:t>ROADMAP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1D95"/>
                </a:solidFill>
                <a:ea typeface="Georgia" pitchFamily="34" charset="-122"/>
                <a:cs typeface="Georgia" pitchFamily="34" charset="-120"/>
              </a:rPr>
              <a:t>“Product Release Roadmap”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ea typeface="Arial" pitchFamily="34" charset="-122"/>
                <a:cs typeface="Arial" pitchFamily="34" charset="-120"/>
              </a:rPr>
              <a:t>Phased delivery across the TiaMeds platform, module by module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0881360" y="32004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0881360" y="56692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85800" y="1600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2952" y="1447800"/>
            <a:ext cx="5486400" cy="4203700"/>
          </a:xfrm>
          <a:prstGeom prst="roundRect">
            <a:avLst>
              <a:gd name="adj" fmla="val 2789"/>
            </a:avLst>
          </a:prstGeom>
          <a:solidFill>
            <a:srgbClr val="FAFAFB"/>
          </a:solidFill>
          <a:ln w="12700">
            <a:solidFill>
              <a:srgbClr val="ECEC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4C1D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85800" y="1600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 </a:t>
            </a:r>
            <a:r>
              <a:rPr lang="en-US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HOSPITALS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22960" y="2350008"/>
            <a:ext cx="2331720" cy="3060192"/>
          </a:xfrm>
          <a:prstGeom prst="roundRect">
            <a:avLst>
              <a:gd name="adj" fmla="val 3922"/>
            </a:avLst>
          </a:prstGeom>
          <a:solidFill>
            <a:srgbClr val="D6F5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577340" y="25786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A9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1577340" y="25786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77340" y="3035808"/>
            <a:ext cx="822960" cy="822960"/>
          </a:xfrm>
          <a:prstGeom prst="ellipse">
            <a:avLst/>
          </a:prstGeom>
          <a:solidFill>
            <a:srgbClr val="0FA9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577340" y="30358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087368"/>
            <a:ext cx="20574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Module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29000" y="2350008"/>
            <a:ext cx="2331720" cy="3060192"/>
          </a:xfrm>
          <a:prstGeom prst="roundRect">
            <a:avLst>
              <a:gd name="adj" fmla="val 3922"/>
            </a:avLst>
          </a:prstGeom>
          <a:solidFill>
            <a:srgbClr val="FDF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83380" y="2807208"/>
            <a:ext cx="822960" cy="822960"/>
          </a:xfrm>
          <a:prstGeom prst="ellipse">
            <a:avLst/>
          </a:prstGeom>
          <a:solidFill>
            <a:srgbClr val="F0A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183380" y="28072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38587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19672" y="160020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519672" y="1600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 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2512" y="1435608"/>
            <a:ext cx="5486400" cy="4215892"/>
          </a:xfrm>
          <a:prstGeom prst="roundRect">
            <a:avLst>
              <a:gd name="adj" fmla="val 2789"/>
            </a:avLst>
          </a:prstGeom>
          <a:solidFill>
            <a:srgbClr val="FAFAFB"/>
          </a:solidFill>
          <a:ln w="12700">
            <a:solidFill>
              <a:srgbClr val="ECEC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19672" y="160020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519672" y="1600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💊  </a:t>
            </a:r>
            <a:r>
              <a:rPr lang="en-US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PHARMACIES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656832" y="2350008"/>
            <a:ext cx="2331720" cy="3060192"/>
          </a:xfrm>
          <a:prstGeom prst="roundRect">
            <a:avLst>
              <a:gd name="adj" fmla="val 3922"/>
            </a:avLst>
          </a:prstGeom>
          <a:solidFill>
            <a:srgbClr val="FDE7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411212" y="2807208"/>
            <a:ext cx="822960" cy="822960"/>
          </a:xfrm>
          <a:prstGeom prst="ellipse">
            <a:avLst/>
          </a:prstGeom>
          <a:solidFill>
            <a:srgbClr val="EE7B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411212" y="28072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6793992" y="38587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Inventory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297328" y="2350008"/>
            <a:ext cx="2331720" cy="3060192"/>
          </a:xfrm>
          <a:prstGeom prst="roundRect">
            <a:avLst>
              <a:gd name="adj" fmla="val 3922"/>
            </a:avLst>
          </a:prstGeom>
          <a:solidFill>
            <a:srgbClr val="FDE7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0017252" y="2807208"/>
            <a:ext cx="822960" cy="822960"/>
          </a:xfrm>
          <a:prstGeom prst="ellipse">
            <a:avLst/>
          </a:prstGeom>
          <a:solidFill>
            <a:srgbClr val="EE7B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10017252" y="28072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400032" y="38587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Marketplace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0352" y="5825236"/>
            <a:ext cx="11320272" cy="566928"/>
          </a:xfrm>
          <a:prstGeom prst="roundRect">
            <a:avLst>
              <a:gd name="adj" fmla="val 16129"/>
            </a:avLst>
          </a:prstGeom>
          <a:solidFill>
            <a:srgbClr val="F1E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357628" y="5907532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2357628" y="5929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2839212" y="583846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C1D95"/>
                </a:solidFill>
                <a:ea typeface="Arial" pitchFamily="34" charset="-122"/>
                <a:cs typeface="Arial" pitchFamily="34" charset="-120"/>
              </a:rPr>
              <a:t>One platform, released in phases — each module strengthens the next.</a:t>
            </a:r>
            <a:endParaRPr lang="en-US" dirty="0"/>
          </a:p>
        </p:txBody>
      </p:sp>
      <p:sp>
        <p:nvSpPr>
          <p:cNvPr id="39" name="Text 37"/>
          <p:cNvSpPr txBox="1"/>
          <p:nvPr/>
        </p:nvSpPr>
        <p:spPr>
          <a:xfrm>
            <a:off x="8851392" y="656592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9CA3AF"/>
                </a:solidFill>
                <a:ea typeface="Arial" pitchFamily="34" charset="-122"/>
                <a:cs typeface="Arial" pitchFamily="34" charset="-120"/>
              </a:rPr>
              <a:t>TiaMeds Technologies</a:t>
            </a:r>
            <a:r>
              <a:rPr lang="en-US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Pvt. Ltd.</a:t>
            </a:r>
            <a:endParaRPr lang="en-US" dirty="0"/>
          </a:p>
        </p:txBody>
      </p:sp>
      <p:sp>
        <p:nvSpPr>
          <p:cNvPr id="40" name="Text 38"/>
          <p:cNvSpPr txBox="1"/>
          <p:nvPr/>
        </p:nvSpPr>
        <p:spPr>
          <a:xfrm>
            <a:off x="11155680" y="6693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41" name="Image 0" descr="/home/claude/work/a/logo.png">
            <a:extLst>
              <a:ext uri="{FF2B5EF4-FFF2-40B4-BE49-F238E27FC236}">
                <a16:creationId xmlns:a16="http://schemas.microsoft.com/office/drawing/2014/main" id="{BB8F025A-A5AF-858F-8497-CBECA31C2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68" y="3657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MODULE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TiaMeds Lab Module — AI-Enabled Diagnostic Reporting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332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turns every lab report into a structured, AI-assisted clinical insight for doctors and patients alike</a:t>
            </a: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a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 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3" name="Report Badge BG"/>
          <p:cNvSpPr/>
          <p:nvPr/>
        </p:nvSpPr>
        <p:spPr>
          <a:xfrm>
            <a:off x="548640" y="1858720"/>
            <a:ext cx="2479409" cy="320040"/>
          </a:xfrm>
          <a:prstGeom prst="roundRect">
            <a:avLst>
              <a:gd name="adj" fmla="val 50000"/>
            </a:avLst>
          </a:prstGeom>
          <a:solidFill>
            <a:srgbClr val="2B1B3D"/>
          </a:solidFill>
          <a:ln/>
          <a:effectLst/>
        </p:spPr>
        <p:txBody>
          <a:bodyPr/>
          <a:lstStyle/>
          <a:p>
            <a:endParaRPr lang="en-IN"/>
          </a:p>
        </p:txBody>
      </p:sp>
      <p:sp>
        <p:nvSpPr>
          <p:cNvPr id="54" name="Report Badge Text"/>
          <p:cNvSpPr txBox="1"/>
          <p:nvPr/>
        </p:nvSpPr>
        <p:spPr>
          <a:xfrm>
            <a:off x="548640" y="1858720"/>
            <a:ext cx="2479409" cy="320040"/>
          </a:xfrm>
          <a:prstGeom prst="rect">
            <a:avLst/>
          </a:prstGeom>
          <a:solidFill>
            <a:srgbClr val="92D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LAB REPORT</a:t>
            </a:r>
            <a:endParaRPr lang="en-US" dirty="0"/>
          </a:p>
        </p:txBody>
      </p:sp>
      <p:sp>
        <p:nvSpPr>
          <p:cNvPr id="55" name="Image Frame BG"/>
          <p:cNvSpPr/>
          <p:nvPr/>
        </p:nvSpPr>
        <p:spPr>
          <a:xfrm>
            <a:off x="548640" y="2278760"/>
            <a:ext cx="2479409" cy="34312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/>
          <a:effectLst>
            <a:outerShdw blurRad="101600" dist="25400" dir="5400000" algn="bl" rotWithShape="0">
              <a:srgbClr val="2A085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6" name="Lab Report Screensho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40" y="2368760"/>
            <a:ext cx="2299409" cy="3251240"/>
          </a:xfrm>
          <a:prstGeom prst="roundRect">
            <a:avLst>
              <a:gd name="adj" fmla="val 2000"/>
            </a:avLst>
          </a:prstGeom>
          <a:ln>
            <a:noFill/>
          </a:ln>
        </p:spPr>
      </p:pic>
      <p:sp>
        <p:nvSpPr>
          <p:cNvPr id="9" name="Card BG"/>
          <p:cNvSpPr/>
          <p:nvPr/>
        </p:nvSpPr>
        <p:spPr>
          <a:xfrm>
            <a:off x="3210929" y="1858720"/>
            <a:ext cx="4124775" cy="3851280"/>
          </a:xfrm>
          <a:prstGeom prst="roundRect">
            <a:avLst>
              <a:gd name="adj" fmla="val 3125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Icon Circle"/>
          <p:cNvSpPr/>
          <p:nvPr/>
        </p:nvSpPr>
        <p:spPr>
          <a:xfrm>
            <a:off x="3485249" y="2133040"/>
            <a:ext cx="640080" cy="64008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con Img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269" y="2293060"/>
            <a:ext cx="320040" cy="320040"/>
          </a:xfrm>
          <a:prstGeom prst="rect">
            <a:avLst/>
          </a:prstGeom>
        </p:spPr>
      </p:pic>
      <p:sp>
        <p:nvSpPr>
          <p:cNvPr id="12" name="Badge BG"/>
          <p:cNvSpPr/>
          <p:nvPr/>
        </p:nvSpPr>
        <p:spPr>
          <a:xfrm>
            <a:off x="4262489" y="2293060"/>
            <a:ext cx="2798895" cy="320040"/>
          </a:xfrm>
          <a:prstGeom prst="roundRect">
            <a:avLst>
              <a:gd name="adj" fmla="val 50000"/>
            </a:avLst>
          </a:prstGeom>
          <a:solidFill>
            <a:srgbClr val="F26B1D"/>
          </a:solidFill>
          <a:ln/>
          <a:effectLst/>
        </p:spPr>
        <p:txBody>
          <a:bodyPr/>
          <a:lstStyle/>
          <a:p>
            <a:endParaRPr lang="en-IN"/>
          </a:p>
        </p:txBody>
      </p:sp>
      <p:sp>
        <p:nvSpPr>
          <p:cNvPr id="13" name="Badge Text"/>
          <p:cNvSpPr txBox="1"/>
          <p:nvPr/>
        </p:nvSpPr>
        <p:spPr>
          <a:xfrm>
            <a:off x="4262489" y="2293060"/>
            <a:ext cx="2798895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20+ HOSPITALS</a:t>
            </a:r>
            <a:endParaRPr lang="en-US" sz="1600" dirty="0"/>
          </a:p>
        </p:txBody>
      </p:sp>
      <p:sp>
        <p:nvSpPr>
          <p:cNvPr id="14" name="Card Title"/>
          <p:cNvSpPr txBox="1"/>
          <p:nvPr/>
        </p:nvSpPr>
        <p:spPr>
          <a:xfrm>
            <a:off x="3485249" y="2910280"/>
            <a:ext cx="3576135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Reports</a:t>
            </a:r>
            <a:endParaRPr lang="en-US" sz="1800" dirty="0"/>
          </a:p>
        </p:txBody>
      </p:sp>
      <p:sp>
        <p:nvSpPr>
          <p:cNvPr id="15" name="Card Subtitle"/>
          <p:cNvSpPr txBox="1"/>
          <p:nvPr/>
        </p:nvSpPr>
        <p:spPr>
          <a:xfrm>
            <a:off x="3485249" y="3280280"/>
            <a:ext cx="3576135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Laboratory Workflow &amp; Reporting</a:t>
            </a:r>
            <a:endParaRPr lang="en-US" sz="1600" dirty="0"/>
          </a:p>
        </p:txBody>
      </p:sp>
      <p:sp>
        <p:nvSpPr>
          <p:cNvPr id="16" name="Item Dot 0"/>
          <p:cNvSpPr/>
          <p:nvPr/>
        </p:nvSpPr>
        <p:spPr>
          <a:xfrm>
            <a:off x="3485249" y="3977440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tem Check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541" y="4027732"/>
            <a:ext cx="128016" cy="128016"/>
          </a:xfrm>
          <a:prstGeom prst="rect">
            <a:avLst/>
          </a:prstGeom>
        </p:spPr>
      </p:pic>
      <p:sp>
        <p:nvSpPr>
          <p:cNvPr id="18" name="Item Text 0"/>
          <p:cNvSpPr txBox="1"/>
          <p:nvPr/>
        </p:nvSpPr>
        <p:spPr>
          <a:xfrm>
            <a:off x="3851009" y="3931720"/>
            <a:ext cx="3210375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Results &amp; Reference Ranges</a:t>
            </a:r>
            <a:endParaRPr lang="en-US" sz="1400" dirty="0"/>
          </a:p>
        </p:txBody>
      </p:sp>
      <p:sp>
        <p:nvSpPr>
          <p:cNvPr id="19" name="Item Dot 1"/>
          <p:cNvSpPr/>
          <p:nvPr/>
        </p:nvSpPr>
        <p:spPr>
          <a:xfrm>
            <a:off x="3485249" y="4255483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tem Check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541" y="4305775"/>
            <a:ext cx="128016" cy="128016"/>
          </a:xfrm>
          <a:prstGeom prst="rect">
            <a:avLst/>
          </a:prstGeom>
        </p:spPr>
      </p:pic>
      <p:sp>
        <p:nvSpPr>
          <p:cNvPr id="21" name="Item Text 1"/>
          <p:cNvSpPr txBox="1"/>
          <p:nvPr/>
        </p:nvSpPr>
        <p:spPr>
          <a:xfrm>
            <a:off x="3851009" y="4209763"/>
            <a:ext cx="3210375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Summary — High / Low / Normal</a:t>
            </a:r>
            <a:endParaRPr lang="en-US" sz="1400" dirty="0"/>
          </a:p>
        </p:txBody>
      </p:sp>
      <p:sp>
        <p:nvSpPr>
          <p:cNvPr id="22" name="Item Dot 2"/>
          <p:cNvSpPr/>
          <p:nvPr/>
        </p:nvSpPr>
        <p:spPr>
          <a:xfrm>
            <a:off x="3485249" y="4533526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tem Check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541" y="4583818"/>
            <a:ext cx="128016" cy="128016"/>
          </a:xfrm>
          <a:prstGeom prst="rect">
            <a:avLst/>
          </a:prstGeom>
        </p:spPr>
      </p:pic>
      <p:sp>
        <p:nvSpPr>
          <p:cNvPr id="24" name="Item Text 2"/>
          <p:cNvSpPr txBox="1"/>
          <p:nvPr/>
        </p:nvSpPr>
        <p:spPr>
          <a:xfrm>
            <a:off x="3851009" y="4487806"/>
            <a:ext cx="3210375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CRP, Widal &amp; Panel-Based Tests</a:t>
            </a:r>
            <a:endParaRPr lang="en-US" sz="1400" dirty="0"/>
          </a:p>
        </p:txBody>
      </p:sp>
      <p:sp>
        <p:nvSpPr>
          <p:cNvPr id="25" name="Item Dot 3"/>
          <p:cNvSpPr/>
          <p:nvPr/>
        </p:nvSpPr>
        <p:spPr>
          <a:xfrm>
            <a:off x="3485249" y="4811569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tem Check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541" y="4861861"/>
            <a:ext cx="128016" cy="128016"/>
          </a:xfrm>
          <a:prstGeom prst="rect">
            <a:avLst/>
          </a:prstGeom>
        </p:spPr>
      </p:pic>
      <p:sp>
        <p:nvSpPr>
          <p:cNvPr id="27" name="Item Text 3"/>
          <p:cNvSpPr txBox="1"/>
          <p:nvPr/>
        </p:nvSpPr>
        <p:spPr>
          <a:xfrm>
            <a:off x="3851009" y="4765849"/>
            <a:ext cx="3210375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Referring Doctor &amp; Visit Tracking</a:t>
            </a:r>
            <a:endParaRPr lang="en-US" sz="1400" dirty="0"/>
          </a:p>
        </p:txBody>
      </p:sp>
      <p:sp>
        <p:nvSpPr>
          <p:cNvPr id="28" name="Item Dot 4"/>
          <p:cNvSpPr/>
          <p:nvPr/>
        </p:nvSpPr>
        <p:spPr>
          <a:xfrm>
            <a:off x="3485249" y="5089612"/>
            <a:ext cx="228600" cy="2286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tem Check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541" y="5139904"/>
            <a:ext cx="128016" cy="128016"/>
          </a:xfrm>
          <a:prstGeom prst="rect">
            <a:avLst/>
          </a:prstGeom>
        </p:spPr>
      </p:pic>
      <p:sp>
        <p:nvSpPr>
          <p:cNvPr id="30" name="Item Text 4"/>
          <p:cNvSpPr txBox="1"/>
          <p:nvPr/>
        </p:nvSpPr>
        <p:spPr>
          <a:xfrm>
            <a:off x="3851009" y="5043892"/>
            <a:ext cx="3210375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Sign-off by Pathologist</a:t>
            </a:r>
            <a:endParaRPr lang="en-US" sz="1400" dirty="0"/>
          </a:p>
        </p:txBody>
      </p:sp>
      <p:sp>
        <p:nvSpPr>
          <p:cNvPr id="31" name="Card BG"/>
          <p:cNvSpPr/>
          <p:nvPr/>
        </p:nvSpPr>
        <p:spPr>
          <a:xfrm>
            <a:off x="7518584" y="1858720"/>
            <a:ext cx="4124775" cy="3851280"/>
          </a:xfrm>
          <a:prstGeom prst="roundRect">
            <a:avLst>
              <a:gd name="adj" fmla="val 3125"/>
            </a:avLst>
          </a:prstGeom>
          <a:solidFill>
            <a:srgbClr val="EDE4FA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Icon Circle"/>
          <p:cNvSpPr/>
          <p:nvPr/>
        </p:nvSpPr>
        <p:spPr>
          <a:xfrm>
            <a:off x="7792904" y="2133040"/>
            <a:ext cx="640080" cy="64008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con Img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924" y="2293060"/>
            <a:ext cx="320040" cy="320040"/>
          </a:xfrm>
          <a:prstGeom prst="rect">
            <a:avLst/>
          </a:prstGeom>
        </p:spPr>
      </p:pic>
      <p:sp>
        <p:nvSpPr>
          <p:cNvPr id="34" name="Badge BG"/>
          <p:cNvSpPr/>
          <p:nvPr/>
        </p:nvSpPr>
        <p:spPr>
          <a:xfrm>
            <a:off x="8570144" y="2293060"/>
            <a:ext cx="2798895" cy="320040"/>
          </a:xfrm>
          <a:prstGeom prst="roundRect">
            <a:avLst>
              <a:gd name="adj" fmla="val 50000"/>
            </a:avLst>
          </a:prstGeom>
          <a:solidFill>
            <a:srgbClr val="4B0C8C"/>
          </a:solidFill>
          <a:ln/>
          <a:effectLst/>
        </p:spPr>
        <p:txBody>
          <a:bodyPr/>
          <a:lstStyle/>
          <a:p>
            <a:endParaRPr lang="en-IN"/>
          </a:p>
        </p:txBody>
      </p:sp>
      <p:sp>
        <p:nvSpPr>
          <p:cNvPr id="35" name="Badge Text"/>
          <p:cNvSpPr txBox="1"/>
          <p:nvPr/>
        </p:nvSpPr>
        <p:spPr>
          <a:xfrm>
            <a:off x="8570144" y="2293060"/>
            <a:ext cx="2798895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600" dirty="0"/>
          </a:p>
        </p:txBody>
      </p:sp>
      <p:sp>
        <p:nvSpPr>
          <p:cNvPr id="36" name="Card Title"/>
          <p:cNvSpPr txBox="1"/>
          <p:nvPr/>
        </p:nvSpPr>
        <p:spPr>
          <a:xfrm>
            <a:off x="7792904" y="2910280"/>
            <a:ext cx="3576135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Observations</a:t>
            </a:r>
            <a:endParaRPr lang="en-US" sz="1800" dirty="0"/>
          </a:p>
        </p:txBody>
      </p:sp>
      <p:sp>
        <p:nvSpPr>
          <p:cNvPr id="37" name="Card Subtitle"/>
          <p:cNvSpPr txBox="1"/>
          <p:nvPr/>
        </p:nvSpPr>
        <p:spPr>
          <a:xfrm>
            <a:off x="7792904" y="3280280"/>
            <a:ext cx="3576135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Insight Layer on Every Report</a:t>
            </a:r>
            <a:endParaRPr lang="en-US" sz="1600" dirty="0"/>
          </a:p>
        </p:txBody>
      </p:sp>
      <p:sp>
        <p:nvSpPr>
          <p:cNvPr id="38" name="Item Dot 0"/>
          <p:cNvSpPr/>
          <p:nvPr/>
        </p:nvSpPr>
        <p:spPr>
          <a:xfrm>
            <a:off x="7792904" y="3977440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tem Check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196" y="4027732"/>
            <a:ext cx="128016" cy="128016"/>
          </a:xfrm>
          <a:prstGeom prst="rect">
            <a:avLst/>
          </a:prstGeom>
        </p:spPr>
      </p:pic>
      <p:sp>
        <p:nvSpPr>
          <p:cNvPr id="40" name="Item Text 0"/>
          <p:cNvSpPr txBox="1"/>
          <p:nvPr/>
        </p:nvSpPr>
        <p:spPr>
          <a:xfrm>
            <a:off x="8158664" y="3931720"/>
            <a:ext cx="3210375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Provisional Diagnosis</a:t>
            </a:r>
            <a:endParaRPr lang="en-US" sz="1400" dirty="0"/>
          </a:p>
        </p:txBody>
      </p:sp>
      <p:sp>
        <p:nvSpPr>
          <p:cNvPr id="41" name="Item Dot 1"/>
          <p:cNvSpPr/>
          <p:nvPr/>
        </p:nvSpPr>
        <p:spPr>
          <a:xfrm>
            <a:off x="7792904" y="4255483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tem Check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196" y="4305775"/>
            <a:ext cx="128016" cy="128016"/>
          </a:xfrm>
          <a:prstGeom prst="rect">
            <a:avLst/>
          </a:prstGeom>
        </p:spPr>
      </p:pic>
      <p:sp>
        <p:nvSpPr>
          <p:cNvPr id="43" name="Item Text 1"/>
          <p:cNvSpPr txBox="1"/>
          <p:nvPr/>
        </p:nvSpPr>
        <p:spPr>
          <a:xfrm>
            <a:off x="8158664" y="4209763"/>
            <a:ext cx="3210375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Patient Interpretation</a:t>
            </a:r>
            <a:endParaRPr lang="en-US" sz="1400" dirty="0"/>
          </a:p>
        </p:txBody>
      </p:sp>
      <p:sp>
        <p:nvSpPr>
          <p:cNvPr id="44" name="Item Dot 2"/>
          <p:cNvSpPr/>
          <p:nvPr/>
        </p:nvSpPr>
        <p:spPr>
          <a:xfrm>
            <a:off x="7792904" y="4533526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tem Check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196" y="4583818"/>
            <a:ext cx="128016" cy="128016"/>
          </a:xfrm>
          <a:prstGeom prst="rect">
            <a:avLst/>
          </a:prstGeom>
        </p:spPr>
      </p:pic>
      <p:sp>
        <p:nvSpPr>
          <p:cNvPr id="46" name="Item Text 2"/>
          <p:cNvSpPr txBox="1"/>
          <p:nvPr/>
        </p:nvSpPr>
        <p:spPr>
          <a:xfrm>
            <a:off x="8158664" y="4487806"/>
            <a:ext cx="3210375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Doctor Specialty</a:t>
            </a:r>
            <a:endParaRPr lang="en-US" sz="1400" dirty="0"/>
          </a:p>
        </p:txBody>
      </p:sp>
      <p:sp>
        <p:nvSpPr>
          <p:cNvPr id="47" name="Item Dot 3"/>
          <p:cNvSpPr/>
          <p:nvPr/>
        </p:nvSpPr>
        <p:spPr>
          <a:xfrm>
            <a:off x="7792904" y="4811569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tem Check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196" y="4861861"/>
            <a:ext cx="128016" cy="128016"/>
          </a:xfrm>
          <a:prstGeom prst="rect">
            <a:avLst/>
          </a:prstGeom>
        </p:spPr>
      </p:pic>
      <p:sp>
        <p:nvSpPr>
          <p:cNvPr id="49" name="Item Text 3"/>
          <p:cNvSpPr txBox="1"/>
          <p:nvPr/>
        </p:nvSpPr>
        <p:spPr>
          <a:xfrm>
            <a:off x="8158664" y="4765849"/>
            <a:ext cx="3210375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Care Tips</a:t>
            </a:r>
            <a:endParaRPr lang="en-US" sz="1400" dirty="0"/>
          </a:p>
        </p:txBody>
      </p:sp>
      <p:sp>
        <p:nvSpPr>
          <p:cNvPr id="50" name="Item Dot 4"/>
          <p:cNvSpPr/>
          <p:nvPr/>
        </p:nvSpPr>
        <p:spPr>
          <a:xfrm>
            <a:off x="7792904" y="5089612"/>
            <a:ext cx="228600" cy="2286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Item Check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196" y="5139904"/>
            <a:ext cx="128016" cy="128016"/>
          </a:xfrm>
          <a:prstGeom prst="rect">
            <a:avLst/>
          </a:prstGeom>
        </p:spPr>
      </p:pic>
      <p:sp>
        <p:nvSpPr>
          <p:cNvPr id="52" name="Item Text 4"/>
          <p:cNvSpPr txBox="1"/>
          <p:nvPr/>
        </p:nvSpPr>
        <p:spPr>
          <a:xfrm>
            <a:off x="8158664" y="5043892"/>
            <a:ext cx="3210375" cy="27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Clearly: Not a Diagnosis</a:t>
            </a:r>
            <a:endParaRPr lang="en-US" sz="1400" dirty="0"/>
          </a:p>
        </p:txBody>
      </p:sp>
      <p:sp>
        <p:nvSpPr>
          <p:cNvPr id="62" name="Banner BG"/>
          <p:cNvSpPr/>
          <p:nvPr/>
        </p:nvSpPr>
        <p:spPr>
          <a:xfrm>
            <a:off x="548640" y="5710000"/>
            <a:ext cx="11094720" cy="640000"/>
          </a:xfrm>
          <a:prstGeom prst="roundRect">
            <a:avLst>
              <a:gd name="adj" fmla="val 12000"/>
            </a:avLst>
          </a:prstGeom>
          <a:solidFill>
            <a:srgbClr val="4B0C8C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Banner Text"/>
          <p:cNvSpPr txBox="1"/>
          <p:nvPr/>
        </p:nvSpPr>
        <p:spPr>
          <a:xfrm>
            <a:off x="822960" y="5710000"/>
            <a:ext cx="105460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6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Test Values to Actionable Clinical Insight.”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Lab Reports + AI Clinical Observations — helping doctors act faster and patients understand results at a glance.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7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REPORT  •  AI INSIGHTS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14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Smarter Lab Report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27432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  <a:effectLst>
            <a:outerShdw blurRad="101600" dist="25400" dir="5400000" algn="bl" rotWithShape="0">
              <a:srgbClr val="5A288C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698480" y="3108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5074920"/>
          </a:xfrm>
          <a:prstGeom prst="roundRect">
            <a:avLst>
              <a:gd name="adj" fmla="val 3488"/>
            </a:avLst>
          </a:prstGeom>
          <a:solidFill>
            <a:srgbClr val="D9F2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age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1" y="1581912"/>
            <a:ext cx="3192378" cy="3282194"/>
          </a:xfrm>
          <a:prstGeom prst="rect">
            <a:avLst/>
          </a:prstGeom>
        </p:spPr>
      </p:pic>
      <p:pic>
        <p:nvPicPr>
          <p:cNvPr id="9" name="Image 1" descr="page2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11" y="5001265"/>
            <a:ext cx="3192378" cy="137518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1417320"/>
            <a:ext cx="7132320" cy="5074920"/>
          </a:xfrm>
          <a:prstGeom prst="roundRect">
            <a:avLst>
              <a:gd name="adj" fmla="val 2703"/>
            </a:avLst>
          </a:prstGeom>
          <a:solidFill>
            <a:srgbClr val="EFE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4983480" y="1737360"/>
            <a:ext cx="384048" cy="384048"/>
          </a:xfrm>
          <a:prstGeom prst="ellipse">
            <a:avLst/>
          </a:prstGeom>
          <a:solidFill>
            <a:srgbClr val="5B2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49834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719072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3A1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CLINICAL OBSERVATIONS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4231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1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 Diagnosis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983480" y="275234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C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Probable acute viral infection — relative lymphocytosis with neutropenia and a positive CRP, indicating systemic inflammation.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366674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1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to Visit: </a:t>
            </a:r>
            <a:r>
              <a:rPr lang="en-US" sz="1500" b="1" dirty="0">
                <a:solidFill>
                  <a:srgbClr val="E03B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Pediatrician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983480" y="416966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1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Interpretation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983480" y="44988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C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suggest a viral infection. Neutrophil percentage is lower than usual, and lymphocyte percentage is higher than usual.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4983480" y="532180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A1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Tips: </a:t>
            </a:r>
            <a:r>
              <a:rPr lang="en-US" sz="1350" dirty="0">
                <a:solidFill>
                  <a:srgbClr val="2C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and drink plenty of fluids. Return for care if fever or symptoms worsen.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4983480" y="582780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: Future Enhancement: Location-based doctor discovery and appointment booking with relevant specialists.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TiaMeds Technologies Pvt. Ltd.</a:t>
            </a:r>
            <a:endParaRPr lang="en-US" dirty="0"/>
          </a:p>
        </p:txBody>
      </p:sp>
      <p:pic>
        <p:nvPicPr>
          <p:cNvPr id="22" name="Image 0" descr="/home/claude/work/a/logo.png">
            <a:extLst>
              <a:ext uri="{FF2B5EF4-FFF2-40B4-BE49-F238E27FC236}">
                <a16:creationId xmlns:a16="http://schemas.microsoft.com/office/drawing/2014/main" id="{57212411-8104-64D9-95A4-950871445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1340" y="305047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PROBLEM”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Commerce Runs on Manual Trust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Manufacturers, distributors, hospitals and pharmacies operate in silos — with no shared digital backbone.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5431536" cy="1325880"/>
          </a:xfrm>
          <a:prstGeom prst="roundRect">
            <a:avLst>
              <a:gd name="adj" fmla="val 8276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218313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Ecosystem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1696669" y="21488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platform connects the multi-layered supply chain — manufacturers to pharmacies operate in silos.</a:t>
            </a:r>
            <a:endParaRPr lang="en-US" sz="1600" b="1" dirty="0"/>
          </a:p>
        </p:txBody>
      </p:sp>
      <p:sp>
        <p:nvSpPr>
          <p:cNvPr id="14" name="Shape 10"/>
          <p:cNvSpPr/>
          <p:nvPr/>
        </p:nvSpPr>
        <p:spPr>
          <a:xfrm>
            <a:off x="6208776" y="1737360"/>
            <a:ext cx="5431536" cy="1325880"/>
          </a:xfrm>
          <a:prstGeom prst="roundRect">
            <a:avLst>
              <a:gd name="adj" fmla="val 8276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483096" y="2011680"/>
            <a:ext cx="685800" cy="6858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4546" y="218313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397496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Procurement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7397496" y="2194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calls, WhatsApp orders, email quotations, and paper drug licenses remain the norm.</a:t>
            </a:r>
            <a:endParaRPr lang="en-US" sz="1600" b="1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STAYING MANUAL</a:t>
            </a: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548640" y="36118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497330" y="3806024"/>
            <a:ext cx="502920" cy="50292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2668" y="393192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7240" y="4572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at Risk of Being Substandard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3376879" y="36118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320990" y="3840480"/>
            <a:ext cx="502920" cy="50292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1749" y="3966210"/>
            <a:ext cx="251460" cy="251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605479" y="4572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Delays (Manual Workflows)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6205118" y="36118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DFF5E8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7256678" y="3771900"/>
            <a:ext cx="502920" cy="50292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2408" y="3874770"/>
            <a:ext cx="251460" cy="2514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433718" y="4572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0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Fragmented Inventory Data</a:t>
            </a:r>
            <a:endParaRPr lang="en-US" sz="2000" b="1" dirty="0">
              <a:solidFill>
                <a:srgbClr val="2B1B3D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9033358" y="36118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3C4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8"/>
          <p:cNvSpPr/>
          <p:nvPr/>
        </p:nvSpPr>
        <p:spPr>
          <a:xfrm>
            <a:off x="10107778" y="3794760"/>
            <a:ext cx="502920" cy="502920"/>
          </a:xfrm>
          <a:prstGeom prst="ellipse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10233508" y="3920490"/>
            <a:ext cx="251460" cy="25146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261958" y="4572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000" b="1" dirty="0">
                <a:solidFill>
                  <a:srgbClr val="2B1B3D"/>
                </a:solidFill>
                <a:latin typeface="Calibri" pitchFamily="34" charset="0"/>
                <a:cs typeface="Calibri" pitchFamily="34" charset="-120"/>
              </a:rPr>
              <a:t>Restricted Market Reach</a:t>
            </a:r>
            <a:endParaRPr lang="en-US" sz="2000" b="1" dirty="0">
              <a:solidFill>
                <a:srgbClr val="2B1B3D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548640" y="5532120"/>
            <a:ext cx="11091672" cy="850392"/>
          </a:xfrm>
          <a:prstGeom prst="roundRect">
            <a:avLst>
              <a:gd name="adj" fmla="val 14118"/>
            </a:avLst>
          </a:prstGeom>
          <a:solidFill>
            <a:srgbClr val="4B0C8C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33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HEALTHCARE CANNOT SUCCEED WITHOUT TRUSTED DIGITAL COMMERCE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needs compliance-first, intelligent, trusted digital infrastructure for pharmaceutical commerce — TiaMeds Marketplace(PHARMA MARKETPLACE)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Medicine Takes Today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multi-tier, largely manual supply chain — with friction, paperwork, and blind spots at every handoff.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 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97280" y="1783080"/>
            <a:ext cx="914400" cy="9144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011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Batch Release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578608" y="2121408"/>
            <a:ext cx="219456" cy="237744"/>
          </a:xfrm>
          <a:prstGeom prst="rightArrow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3367278" y="1783080"/>
            <a:ext cx="914400" cy="9144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878" y="20116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818638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C&amp;F Agent / Super-Stockist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818638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Bulk Storage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848606" y="2121408"/>
            <a:ext cx="219456" cy="237744"/>
          </a:xfrm>
          <a:prstGeom prst="rightArrow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637276" y="1783080"/>
            <a:ext cx="914400" cy="91440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876" y="20116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088636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/ Wholesaler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088636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Distribution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118604" y="2121408"/>
            <a:ext cx="219456" cy="237744"/>
          </a:xfrm>
          <a:prstGeom prst="rightArrow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7907274" y="1783080"/>
            <a:ext cx="914400" cy="914400"/>
          </a:xfrm>
          <a:prstGeom prst="ellipse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5874" y="20116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58634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/ Retail Pharmacy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358634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Dispensing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9388602" y="2121408"/>
            <a:ext cx="219456" cy="237744"/>
          </a:xfrm>
          <a:prstGeom prst="rightArrow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10177272" y="1783080"/>
            <a:ext cx="914400" cy="914400"/>
          </a:xfrm>
          <a:prstGeom prst="ellipse">
            <a:avLst/>
          </a:prstGeom>
          <a:solidFill>
            <a:srgbClr val="7B2F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5872" y="201168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628632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9628632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Care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AT EVERY HANDOFF</a:t>
            </a:r>
            <a:endParaRPr lang="en-US" dirty="0"/>
          </a:p>
        </p:txBody>
      </p:sp>
      <p:sp>
        <p:nvSpPr>
          <p:cNvPr id="34" name="Shape 26"/>
          <p:cNvSpPr/>
          <p:nvPr/>
        </p:nvSpPr>
        <p:spPr>
          <a:xfrm>
            <a:off x="548640" y="425196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" y="459486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371600" y="4251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&amp; Email Purchase Orders</a:t>
            </a:r>
            <a:endParaRPr lang="en-US" dirty="0"/>
          </a:p>
        </p:txBody>
      </p:sp>
      <p:sp>
        <p:nvSpPr>
          <p:cNvPr id="38" name="Shape 29"/>
          <p:cNvSpPr/>
          <p:nvPr/>
        </p:nvSpPr>
        <p:spPr>
          <a:xfrm>
            <a:off x="3376879" y="425196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0"/>
          <p:cNvSpPr/>
          <p:nvPr/>
        </p:nvSpPr>
        <p:spPr>
          <a:xfrm>
            <a:off x="3605479" y="4480560"/>
            <a:ext cx="457200" cy="4572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9779" y="459486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199839" y="4251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Invoices &amp; Manual Entry</a:t>
            </a:r>
            <a:endParaRPr lang="en-US" dirty="0"/>
          </a:p>
        </p:txBody>
      </p:sp>
      <p:sp>
        <p:nvSpPr>
          <p:cNvPr id="42" name="Shape 32"/>
          <p:cNvSpPr/>
          <p:nvPr/>
        </p:nvSpPr>
        <p:spPr>
          <a:xfrm>
            <a:off x="6205118" y="425196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3"/>
          <p:cNvSpPr/>
          <p:nvPr/>
        </p:nvSpPr>
        <p:spPr>
          <a:xfrm>
            <a:off x="6433718" y="4480560"/>
            <a:ext cx="457200" cy="4572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8018" y="4594860"/>
            <a:ext cx="228600" cy="22860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028078" y="4251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Batch/Expiry Visibility</a:t>
            </a:r>
            <a:endParaRPr lang="en-US" dirty="0"/>
          </a:p>
        </p:txBody>
      </p:sp>
      <p:sp>
        <p:nvSpPr>
          <p:cNvPr id="46" name="Shape 35"/>
          <p:cNvSpPr/>
          <p:nvPr/>
        </p:nvSpPr>
        <p:spPr>
          <a:xfrm>
            <a:off x="9033358" y="4251960"/>
            <a:ext cx="2606040" cy="914400"/>
          </a:xfrm>
          <a:prstGeom prst="roundRect">
            <a:avLst>
              <a:gd name="adj" fmla="val 12000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36"/>
          <p:cNvSpPr/>
          <p:nvPr/>
        </p:nvSpPr>
        <p:spPr>
          <a:xfrm>
            <a:off x="9261958" y="4480560"/>
            <a:ext cx="457200" cy="4572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6258" y="4594860"/>
            <a:ext cx="228600" cy="22860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856318" y="4251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Payment Reconciliation</a:t>
            </a:r>
            <a:endParaRPr lang="en-US" dirty="0"/>
          </a:p>
        </p:txBody>
      </p:sp>
      <p:sp>
        <p:nvSpPr>
          <p:cNvPr id="50" name="Shape 38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4B0C8C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Text 39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above is a point of friction today — manual, paper-based, and disconnected.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Marketplace digitizes this entire journey end-to-end — verified sellers, compliant transactions, and full traceability from manufacturer to patient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AI-Powered B2B Pharma Marketplace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medicine. Right source. Right price. Every seller verified, every transaction traceable.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20345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7734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880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· Distributors · Wholesalers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072384" y="2450592"/>
            <a:ext cx="256032" cy="274320"/>
          </a:xfrm>
          <a:prstGeom prst="rightArrow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383280" y="1737360"/>
            <a:ext cx="2286000" cy="1691640"/>
          </a:xfrm>
          <a:prstGeom prst="roundRect">
            <a:avLst>
              <a:gd name="adj" fmla="val 6486"/>
            </a:avLst>
          </a:prstGeom>
          <a:solidFill>
            <a:srgbClr val="DFF5E8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611880" y="1874520"/>
            <a:ext cx="640080" cy="64008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900" y="20345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43400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590544" y="25923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License, batch &amp; expiry verification (TiaMeds Admin)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724144" y="2450592"/>
            <a:ext cx="256032" cy="274320"/>
          </a:xfrm>
          <a:prstGeom prst="rightArrow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035040" y="17373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4B0C8C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263640" y="1874520"/>
            <a:ext cx="640080" cy="640080"/>
          </a:xfrm>
          <a:prstGeom prst="ellipse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20345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32320" y="19431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6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483024" y="26014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Registry · AI Recommendations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8833104" y="2450592"/>
            <a:ext cx="256032" cy="274320"/>
          </a:xfrm>
          <a:prstGeom prst="rightArrow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9144000" y="173736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9372600" y="1874520"/>
            <a:ext cx="640080" cy="64008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2620" y="203454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088880" y="2066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454896" y="2645525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· Pharmacies · Clinics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548640" y="361188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6"/>
          <p:cNvSpPr txBox="1"/>
          <p:nvPr/>
        </p:nvSpPr>
        <p:spPr>
          <a:xfrm>
            <a:off x="548640" y="3611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TRACEABILITY — every order, batch &amp; payment auditable across the full journey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 VALUE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548640" y="4617720"/>
            <a:ext cx="1709928" cy="1600200"/>
          </a:xfrm>
          <a:prstGeom prst="roundRect">
            <a:avLst>
              <a:gd name="adj" fmla="val 6857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 txBox="1"/>
          <p:nvPr/>
        </p:nvSpPr>
        <p:spPr>
          <a:xfrm>
            <a:off x="548640" y="484632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685800" y="548640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Access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2425537" y="4617720"/>
            <a:ext cx="1709928" cy="1600200"/>
          </a:xfrm>
          <a:prstGeom prst="roundRect">
            <a:avLst>
              <a:gd name="adj" fmla="val 6857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2"/>
          <p:cNvSpPr txBox="1"/>
          <p:nvPr/>
        </p:nvSpPr>
        <p:spPr>
          <a:xfrm>
            <a:off x="2425537" y="484632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600" dirty="0"/>
          </a:p>
        </p:txBody>
      </p:sp>
      <p:sp>
        <p:nvSpPr>
          <p:cNvPr id="40" name="Text 33"/>
          <p:cNvSpPr txBox="1"/>
          <p:nvPr/>
        </p:nvSpPr>
        <p:spPr>
          <a:xfrm>
            <a:off x="2562697" y="548640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Procurement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4302435" y="4617720"/>
            <a:ext cx="1709928" cy="1600200"/>
          </a:xfrm>
          <a:prstGeom prst="roundRect">
            <a:avLst>
              <a:gd name="adj" fmla="val 6857"/>
            </a:avLst>
          </a:prstGeom>
          <a:solidFill>
            <a:srgbClr val="DFF5E8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35"/>
          <p:cNvSpPr txBox="1"/>
          <p:nvPr/>
        </p:nvSpPr>
        <p:spPr>
          <a:xfrm>
            <a:off x="4302435" y="484632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A4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600" dirty="0"/>
          </a:p>
        </p:txBody>
      </p:sp>
      <p:sp>
        <p:nvSpPr>
          <p:cNvPr id="43" name="Text 36"/>
          <p:cNvSpPr txBox="1"/>
          <p:nvPr/>
        </p:nvSpPr>
        <p:spPr>
          <a:xfrm>
            <a:off x="4439595" y="548640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Safety Assured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6179332" y="4617720"/>
            <a:ext cx="1709928" cy="1600200"/>
          </a:xfrm>
          <a:prstGeom prst="roundRect">
            <a:avLst>
              <a:gd name="adj" fmla="val 6857"/>
            </a:avLst>
          </a:prstGeom>
          <a:solidFill>
            <a:srgbClr val="FFF3C4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38"/>
          <p:cNvSpPr txBox="1"/>
          <p:nvPr/>
        </p:nvSpPr>
        <p:spPr>
          <a:xfrm>
            <a:off x="6179332" y="484632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6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600" dirty="0"/>
          </a:p>
        </p:txBody>
      </p:sp>
      <p:sp>
        <p:nvSpPr>
          <p:cNvPr id="46" name="Text 39"/>
          <p:cNvSpPr txBox="1"/>
          <p:nvPr/>
        </p:nvSpPr>
        <p:spPr>
          <a:xfrm>
            <a:off x="6316492" y="548640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1600" b="1" dirty="0"/>
              <a:t>Expense reduction</a:t>
            </a:r>
            <a:r>
              <a:rPr lang="en-IN" sz="1600" dirty="0"/>
              <a:t> </a:t>
            </a:r>
            <a:endParaRPr lang="en-US" sz="1600" dirty="0"/>
          </a:p>
        </p:txBody>
      </p:sp>
      <p:sp>
        <p:nvSpPr>
          <p:cNvPr id="47" name="Shape 40"/>
          <p:cNvSpPr/>
          <p:nvPr/>
        </p:nvSpPr>
        <p:spPr>
          <a:xfrm>
            <a:off x="8056230" y="4617720"/>
            <a:ext cx="1709928" cy="1600200"/>
          </a:xfrm>
          <a:prstGeom prst="roundRect">
            <a:avLst>
              <a:gd name="adj" fmla="val 6857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1"/>
          <p:cNvSpPr txBox="1"/>
          <p:nvPr/>
        </p:nvSpPr>
        <p:spPr>
          <a:xfrm>
            <a:off x="8056230" y="484632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49" name="Text 42"/>
          <p:cNvSpPr txBox="1"/>
          <p:nvPr/>
        </p:nvSpPr>
        <p:spPr>
          <a:xfrm>
            <a:off x="8193390" y="548640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Ecosystem</a:t>
            </a:r>
            <a:endParaRPr lang="en-US" sz="1600" dirty="0"/>
          </a:p>
        </p:txBody>
      </p:sp>
      <p:sp>
        <p:nvSpPr>
          <p:cNvPr id="50" name="Shape 43"/>
          <p:cNvSpPr/>
          <p:nvPr/>
        </p:nvSpPr>
        <p:spPr>
          <a:xfrm>
            <a:off x="9933127" y="4617720"/>
            <a:ext cx="1709928" cy="1600200"/>
          </a:xfrm>
          <a:prstGeom prst="roundRect">
            <a:avLst>
              <a:gd name="adj" fmla="val 6857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Text 44"/>
          <p:cNvSpPr txBox="1"/>
          <p:nvPr/>
        </p:nvSpPr>
        <p:spPr>
          <a:xfrm>
            <a:off x="9933127" y="484632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1600" dirty="0"/>
          </a:p>
        </p:txBody>
      </p:sp>
      <p:sp>
        <p:nvSpPr>
          <p:cNvPr id="52" name="Text 45"/>
          <p:cNvSpPr txBox="1"/>
          <p:nvPr/>
        </p:nvSpPr>
        <p:spPr>
          <a:xfrm>
            <a:off x="10070287" y="5486400"/>
            <a:ext cx="1435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Professionals, Not Outsiders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F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Medical Operators &amp; Healthcare Professionals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0342" y="65288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 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401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721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759289" y="1547622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work/a/p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754" y="1719072"/>
            <a:ext cx="1371600" cy="1371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13114" y="31870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Sini Arjun</a:t>
            </a:r>
            <a:endParaRPr lang="en-US" dirty="0"/>
          </a:p>
        </p:txBody>
      </p:sp>
      <p:sp>
        <p:nvSpPr>
          <p:cNvPr id="17" name="Text 12"/>
          <p:cNvSpPr txBox="1"/>
          <p:nvPr/>
        </p:nvSpPr>
        <p:spPr>
          <a:xfrm>
            <a:off x="8913114" y="3441739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6B1D"/>
                </a:solidFill>
                <a:latin typeface="Calibri" pitchFamily="34" charset="0"/>
                <a:cs typeface="Calibri" pitchFamily="34" charset="-120"/>
              </a:rPr>
              <a:t>Medical Resource Expert 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111598" y="3830359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years in Oncopathology, healthcare management, and clinical leadership across hospital institutions.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5372" y="1690282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DFF5E8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work/a/p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1069" y="1728216"/>
            <a:ext cx="1371600" cy="1371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2429" y="32964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H. H.</a:t>
            </a:r>
            <a:endParaRPr lang="en-US" dirty="0"/>
          </a:p>
        </p:txBody>
      </p:sp>
      <p:sp>
        <p:nvSpPr>
          <p:cNvPr id="22" name="Text 16"/>
          <p:cNvSpPr txBox="1"/>
          <p:nvPr/>
        </p:nvSpPr>
        <p:spPr>
          <a:xfrm>
            <a:off x="992389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IN" sz="1600" dirty="0"/>
              <a:t>Delivery owner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9050274" y="376520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814316" y="1624717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3C4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work/a/p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96" y="1680542"/>
            <a:ext cx="1371600" cy="1371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850345" y="3110617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4B0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Abhinandan S. Rao</a:t>
            </a:r>
            <a:endParaRPr lang="en-US" dirty="0"/>
          </a:p>
        </p:txBody>
      </p:sp>
      <p:sp>
        <p:nvSpPr>
          <p:cNvPr id="27" name="Text 20"/>
          <p:cNvSpPr txBox="1"/>
          <p:nvPr/>
        </p:nvSpPr>
        <p:spPr>
          <a:xfrm>
            <a:off x="4814316" y="3416113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dirty="0"/>
              <a:t>S</a:t>
            </a:r>
            <a:r>
              <a:rPr lang="en-IN" sz="1600" dirty="0" err="1"/>
              <a:t>ubject</a:t>
            </a:r>
            <a:r>
              <a:rPr lang="en-IN" sz="1600" dirty="0"/>
              <a:t> Matter Expert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266709" y="3926309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257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DEDICATED FUNCTIONAL TEAMS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" y="5577840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685800" y="5687568"/>
            <a:ext cx="457200" cy="4572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5801868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34440" y="5577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Mysuru</a:t>
            </a:r>
            <a:endParaRPr lang="en-US" dirty="0"/>
          </a:p>
        </p:txBody>
      </p:sp>
      <p:sp>
        <p:nvSpPr>
          <p:cNvPr id="34" name="Shape 26"/>
          <p:cNvSpPr/>
          <p:nvPr/>
        </p:nvSpPr>
        <p:spPr>
          <a:xfrm>
            <a:off x="2818638" y="5577840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2955798" y="5687568"/>
            <a:ext cx="457200" cy="45720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0098" y="5801868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504438" y="5577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Bengaluru</a:t>
            </a:r>
            <a:endParaRPr lang="en-US" dirty="0"/>
          </a:p>
        </p:txBody>
      </p:sp>
      <p:sp>
        <p:nvSpPr>
          <p:cNvPr id="38" name="Shape 29"/>
          <p:cNvSpPr/>
          <p:nvPr/>
        </p:nvSpPr>
        <p:spPr>
          <a:xfrm>
            <a:off x="5088636" y="5577840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DFF5E8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0"/>
          <p:cNvSpPr/>
          <p:nvPr/>
        </p:nvSpPr>
        <p:spPr>
          <a:xfrm>
            <a:off x="5225796" y="5687568"/>
            <a:ext cx="457200" cy="45720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0096" y="5801868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774436" y="5577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Development</a:t>
            </a:r>
            <a:endParaRPr lang="en-US" dirty="0"/>
          </a:p>
        </p:txBody>
      </p:sp>
      <p:sp>
        <p:nvSpPr>
          <p:cNvPr id="42" name="Shape 32"/>
          <p:cNvSpPr/>
          <p:nvPr/>
        </p:nvSpPr>
        <p:spPr>
          <a:xfrm>
            <a:off x="7358634" y="5577840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FFF3C4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3"/>
          <p:cNvSpPr/>
          <p:nvPr/>
        </p:nvSpPr>
        <p:spPr>
          <a:xfrm>
            <a:off x="7495794" y="5687568"/>
            <a:ext cx="457200" cy="457200"/>
          </a:xfrm>
          <a:prstGeom prst="ellipse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0094" y="5801868"/>
            <a:ext cx="228600" cy="22860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044434" y="5577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</a:t>
            </a:r>
            <a:endParaRPr lang="en-US" dirty="0"/>
          </a:p>
        </p:txBody>
      </p:sp>
      <p:sp>
        <p:nvSpPr>
          <p:cNvPr id="46" name="Shape 35"/>
          <p:cNvSpPr/>
          <p:nvPr/>
        </p:nvSpPr>
        <p:spPr>
          <a:xfrm>
            <a:off x="9628632" y="5577840"/>
            <a:ext cx="2103120" cy="685800"/>
          </a:xfrm>
          <a:prstGeom prst="roundRect">
            <a:avLst>
              <a:gd name="adj" fmla="val 16000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36"/>
          <p:cNvSpPr/>
          <p:nvPr/>
        </p:nvSpPr>
        <p:spPr>
          <a:xfrm>
            <a:off x="9765792" y="5687568"/>
            <a:ext cx="457200" cy="45720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80092" y="5801868"/>
            <a:ext cx="228600" cy="22860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314432" y="5577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dirty="0"/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E2E0277C-2182-FB5A-A2EE-4A9605F35AF5}"/>
              </a:ext>
            </a:extLst>
          </p:cNvPr>
          <p:cNvSpPr txBox="1"/>
          <p:nvPr/>
        </p:nvSpPr>
        <p:spPr>
          <a:xfrm>
            <a:off x="5164074" y="37905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(BtBM), MBA-HA. Healthcare professional with extensive experience across IT and pharma industries.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B0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TiaMeds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064240" y="2743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work/a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3200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TiaMeds Technologies Pvt. Ltd. 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4739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22960" y="1883664"/>
            <a:ext cx="548640" cy="54864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0208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1856232"/>
            <a:ext cx="9720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becomes a strategic asset supporting multiple businesses.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48640" y="2660904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FFEBD9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822960" y="2761488"/>
            <a:ext cx="548640" cy="548640"/>
          </a:xfrm>
          <a:prstGeom prst="ellipse">
            <a:avLst/>
          </a:prstGeom>
          <a:solidFill>
            <a:srgbClr val="F26B1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89864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45920" y="2734056"/>
            <a:ext cx="9720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deployment provides a real-world environment for product validation and refinement.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48640" y="3538728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DFF5E8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22960" y="3639312"/>
            <a:ext cx="548640" cy="548640"/>
          </a:xfrm>
          <a:prstGeom prst="ellipse">
            <a:avLst/>
          </a:prstGeom>
          <a:solidFill>
            <a:srgbClr val="1FA4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77647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3611880"/>
            <a:ext cx="9720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 flows can reduce fragmentation between laboratory, pharmacy and hospital operations.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48640" y="4416552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FFF3C4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822960" y="4517136"/>
            <a:ext cx="548640" cy="548640"/>
          </a:xfrm>
          <a:prstGeom prst="ellipse">
            <a:avLst/>
          </a:prstGeom>
          <a:solidFill>
            <a:srgbClr val="F6B4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65429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45920" y="4489704"/>
            <a:ext cx="9720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infrastructure can connect demand and supply across the pharmaceutical ecosystem.</a:t>
            </a:r>
            <a:endParaRPr lang="en-US" sz="2000" dirty="0"/>
          </a:p>
        </p:txBody>
      </p:sp>
      <p:sp>
        <p:nvSpPr>
          <p:cNvPr id="24" name="Shape 17"/>
          <p:cNvSpPr/>
          <p:nvPr/>
        </p:nvSpPr>
        <p:spPr>
          <a:xfrm>
            <a:off x="548640" y="5294376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F1E9FB"/>
          </a:solidFill>
          <a:ln/>
          <a:effectLst>
            <a:outerShdw blurRad="101600" dist="25400" dir="5400000" algn="bl" rotWithShape="0">
              <a:srgbClr val="2A085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822960" y="5394960"/>
            <a:ext cx="548640" cy="548640"/>
          </a:xfrm>
          <a:prstGeom prst="ellipse">
            <a:avLst/>
          </a:prstGeom>
          <a:solidFill>
            <a:srgbClr val="4B0C8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553212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45920" y="5367528"/>
            <a:ext cx="9720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creates opportunities for scalable digital services and partnerships.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1473</Words>
  <Application>Microsoft Office PowerPoint</Application>
  <PresentationFormat>Widescreen</PresentationFormat>
  <Paragraphs>304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TiaMeds Technologies - Combined Deck</dc:title>
  <dc:subject>PptxGenJS Presentation</dc:subject>
  <dc:creator>PptxGenJS</dc:creator>
  <cp:lastModifiedBy>Archana Jagadish</cp:lastModifiedBy>
  <cp:revision>24</cp:revision>
  <dcterms:created xsi:type="dcterms:W3CDTF">2026-09-19T08:31:28Z</dcterms:created>
  <dcterms:modified xsi:type="dcterms:W3CDTF">2026-10-09T08:08:20Z</dcterms:modified>
</cp:coreProperties>
</file>